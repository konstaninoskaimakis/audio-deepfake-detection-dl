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842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 DEEPFAKE DETECTION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comparison of deep-learning architectures for real-vs-fake speech, with cross-dataset evaluation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328021"/>
            <a:ext cx="7973238" cy="42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Deep Learning course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15198"/>
            <a:ext cx="102075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chemeClr val="bg1"/>
                </a:solidFill>
              </a:rPr>
              <a:t>George </a:t>
            </a:r>
            <a:r>
              <a:rPr sz="1600" b="0" dirty="0" err="1">
                <a:solidFill>
                  <a:schemeClr val="bg1"/>
                </a:solidFill>
              </a:rPr>
              <a:t>Nazos</a:t>
            </a:r>
            <a:r>
              <a:rPr sz="1600" b="0" dirty="0">
                <a:solidFill>
                  <a:schemeClr val="bg1"/>
                </a:solidFill>
              </a:rPr>
              <a:t>  MTN2519     |     Konstantinos Kaimakis  MTN2508</a:t>
            </a:r>
          </a:p>
          <a:p>
            <a:r>
              <a:rPr sz="1200" b="0" dirty="0">
                <a:solidFill>
                  <a:schemeClr val="bg1"/>
                </a:solidFill>
              </a:rPr>
              <a:t>MSc Artificial Intelligence  ·  NSCR </a:t>
            </a:r>
            <a:r>
              <a:rPr sz="1200" b="0" dirty="0" err="1">
                <a:solidFill>
                  <a:schemeClr val="bg1"/>
                </a:solidFill>
              </a:rPr>
              <a:t>Demokritos</a:t>
            </a:r>
            <a:r>
              <a:rPr sz="1200" b="0" dirty="0">
                <a:solidFill>
                  <a:schemeClr val="bg1"/>
                </a:solidFill>
              </a:rPr>
              <a:t> &amp; UNIPI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problem, and why it's hard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6583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speech is now near-indistinguishable from real, enabling fraud and disinformation.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in-domain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generalising to unseen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data.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train on one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set (</a:t>
            </a:r>
            <a:r>
              <a:rPr lang="en-US" sz="1600" dirty="0" err="1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test on a completely independent one (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class-imbalanced,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misleading so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fakes is what matters.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1812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818120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31,779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00100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test clips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818120" y="34472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 / 37%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0100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fake split (imbalanced)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architecture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families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012842"/>
              </p:ext>
            </p:extLst>
          </p:nvPr>
        </p:nvGraphicFramePr>
        <p:xfrm>
          <a:off x="822960" y="1737360"/>
          <a:ext cx="10515600" cy="3200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3931920"/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hand-crafted features (MFCC, chroma, contrast, ZCR)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features + shallow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2-D spectral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CRNN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modelling, with / without a CNN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waveform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 transformer: frozen 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 </a:t>
                      </a: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fine-tune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1–3: focused one-axis sweeps (capacity, LR, regularisation) with interpretation.  </a:t>
            </a:r>
            <a:endParaRPr lang="en-US" sz="1300" i="1" dirty="0" smtClean="0">
              <a:solidFill>
                <a:srgbClr val="6B7B8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i="1" dirty="0" smtClean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</a:t>
            </a: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 an analysis of how to use a pretrained backbone.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protocol, leakage control,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109728" cy="141732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(for-norm) for train + validation (in-domain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In-the-Wild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test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only, so results measure true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109728" cy="1417320"/>
          </a:xfrm>
          <a:prstGeom prst="rect">
            <a:avLst/>
          </a:prstGeom>
          <a:solidFill>
            <a:srgbClr val="E867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imbalance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128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is 63% real / 37% fake. We report per-class precision/recall/F1 and macro-F1, and treat fake-class recall as the operational metric.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109728" cy="1417320"/>
          </a:xfrm>
          <a:prstGeom prst="rect">
            <a:avLst/>
          </a:prstGeom>
          <a:solidFill>
            <a:srgbClr val="3E7C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9728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8130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mono; fixed-duration crop/pad. Feature scalers fit on clean training data only.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 tuning, noise augmentation was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the train split only.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109728" cy="141732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8130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(primary, threshold-free), accuracy, macro-F1, per-class P/R/F1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1 · MLP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Hand-crafted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varies one hyperparameter, others fixed at baseline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0.79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but the weakest learned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hurts: wide/deep nets overfit FoR and transfer worse.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1e-3 wins on this low-dim feature space.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is the features, not the classifier.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Baseline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Hidden layers: </a:t>
            </a:r>
            <a:r>
              <a:rPr lang="en-US" sz="90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 dirty="0">
                <a:solidFill>
                  <a:srgbClr val="0E9594"/>
                </a:solidFill>
              </a:rPr>
              <a:t>AUC 0.769  |  fake-recall 12%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endParaRPr lang="en-US" sz="950" b="1" dirty="0">
              <a:solidFill>
                <a:srgbClr val="C9971B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Hidden layers: </a:t>
            </a:r>
            <a:r>
              <a:rPr lang="en-US" sz="90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1e-3  ← only change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 dirty="0">
                <a:solidFill>
                  <a:srgbClr val="C9971B"/>
                </a:solidFill>
              </a:rPr>
              <a:t>AUC 0.786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10" name="Picture 9" descr="fig_mlp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2 · CNN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spectral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0.87 / acc ≈ 0.83, and the best fake recall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72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sweet spot at 3 blocks; 2 collapses, 4 overfits.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Width: 32 channels ideal; 64 adds nothing.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 1e-3 is catastrophic — erases the cue; 1e-4 is right.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Baseline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Conv depth / </a:t>
            </a:r>
            <a:r>
              <a:rPr lang="en-US" sz="900" dirty="0" err="1">
                <a:solidFill>
                  <a:srgbClr val="5C6B73"/>
                </a:solidFill>
              </a:rPr>
              <a:t>ch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3 blocks / 32 </a:t>
            </a:r>
            <a:r>
              <a:rPr lang="en-US" sz="900" dirty="0" err="1">
                <a:solidFill>
                  <a:srgbClr val="22303A"/>
                </a:solidFill>
              </a:rPr>
              <a:t>ch</a:t>
            </a:r>
            <a:endParaRPr lang="en-US" sz="900" dirty="0">
              <a:solidFill>
                <a:srgbClr val="22303A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dirty="0">
                <a:solidFill>
                  <a:srgbClr val="5C6B73"/>
                </a:solidFill>
              </a:rPr>
              <a:t>Note: </a:t>
            </a:r>
            <a:r>
              <a:rPr lang="en-US" sz="900" dirty="0">
                <a:solidFill>
                  <a:srgbClr val="22303A"/>
                </a:solidFill>
              </a:rPr>
              <a:t>dropout 0.3 beats 0.5 at this </a:t>
            </a:r>
            <a:r>
              <a:rPr lang="en-US" sz="900" dirty="0" err="1">
                <a:solidFill>
                  <a:srgbClr val="22303A"/>
                </a:solidFill>
              </a:rPr>
              <a:t>lr</a:t>
            </a:r>
            <a:endParaRPr lang="en-US" sz="900" dirty="0">
              <a:solidFill>
                <a:srgbClr val="22303A"/>
              </a:solidFill>
            </a:endParaRPr>
          </a:p>
          <a:p>
            <a:r>
              <a:rPr lang="en-US" sz="900" b="1" dirty="0">
                <a:solidFill>
                  <a:srgbClr val="0E9594"/>
                </a:solidFill>
              </a:rPr>
              <a:t>AUC 0.681  |  fake-recall 46%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endParaRPr lang="en-US" sz="950" b="1" dirty="0">
              <a:solidFill>
                <a:srgbClr val="C9971B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Conv depth / </a:t>
            </a:r>
            <a:r>
              <a:rPr lang="en-US" sz="900" dirty="0" err="1">
                <a:solidFill>
                  <a:srgbClr val="5C6B73"/>
                </a:solidFill>
              </a:rPr>
              <a:t>ch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3 blocks / 32 </a:t>
            </a:r>
            <a:r>
              <a:rPr lang="en-US" sz="900" dirty="0" err="1">
                <a:solidFill>
                  <a:srgbClr val="22303A"/>
                </a:solidFill>
              </a:rPr>
              <a:t>ch</a:t>
            </a:r>
            <a:endParaRPr lang="en-US" sz="900" dirty="0">
              <a:solidFill>
                <a:srgbClr val="22303A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1e-3  ← only change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dirty="0">
                <a:solidFill>
                  <a:srgbClr val="5C6B73"/>
                </a:solidFill>
              </a:rPr>
              <a:t>Note: </a:t>
            </a:r>
            <a:r>
              <a:rPr lang="en-US" sz="900" dirty="0" err="1">
                <a:solidFill>
                  <a:srgbClr val="22303A"/>
                </a:solidFill>
              </a:rPr>
              <a:t>lr×dropout</a:t>
            </a:r>
            <a:r>
              <a:rPr lang="en-US" sz="900" dirty="0">
                <a:solidFill>
                  <a:srgbClr val="22303A"/>
                </a:solidFill>
              </a:rPr>
              <a:t> interaction: </a:t>
            </a:r>
            <a:r>
              <a:rPr lang="en-US" sz="900" dirty="0" err="1">
                <a:solidFill>
                  <a:srgbClr val="22303A"/>
                </a:solidFill>
              </a:rPr>
              <a:t>lr</a:t>
            </a:r>
            <a:r>
              <a:rPr lang="en-US" sz="900" dirty="0">
                <a:solidFill>
                  <a:srgbClr val="22303A"/>
                </a:solidFill>
              </a:rPr>
              <a:t> 1e-3 needs do 0.5</a:t>
            </a:r>
          </a:p>
          <a:p>
            <a:r>
              <a:rPr lang="en-US" sz="900" b="1" dirty="0">
                <a:solidFill>
                  <a:srgbClr val="C9971B"/>
                </a:solidFill>
              </a:rPr>
              <a:t>AUC 0.870  |  fake-recall 72%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0" name="Picture 9" descr="fig_c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CRNN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Combining CNN &amp; RNN architectures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 ≈ CNN (AUC ≈ 0.86): the CNN block does the heavy lifting.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conv depth 3, 32 ch, 2 BiLSTM layers, lr 5e-4.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LR (1e-3) destabilises the recurrent path.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adds little once convolution is present.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Baseline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CNN depth / </a:t>
            </a:r>
            <a:r>
              <a:rPr lang="en-US" sz="900" dirty="0" err="1">
                <a:solidFill>
                  <a:srgbClr val="5C6B73"/>
                </a:solidFill>
              </a:rPr>
              <a:t>ch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3 blocks / 32 </a:t>
            </a:r>
            <a:r>
              <a:rPr lang="en-US" sz="900" dirty="0" err="1">
                <a:solidFill>
                  <a:srgbClr val="22303A"/>
                </a:solidFill>
              </a:rPr>
              <a:t>ch</a:t>
            </a:r>
            <a:endParaRPr lang="en-US" sz="900" dirty="0">
              <a:solidFill>
                <a:srgbClr val="22303A"/>
              </a:solidFill>
            </a:endParaRPr>
          </a:p>
          <a:p>
            <a:r>
              <a:rPr lang="en-US" sz="900" dirty="0" err="1">
                <a:solidFill>
                  <a:srgbClr val="5C6B73"/>
                </a:solidFill>
              </a:rPr>
              <a:t>BiLSTM</a:t>
            </a:r>
            <a:r>
              <a:rPr lang="en-US" sz="900" dirty="0">
                <a:solidFill>
                  <a:srgbClr val="5C6B73"/>
                </a:solidFill>
              </a:rPr>
              <a:t> layers / h: </a:t>
            </a:r>
            <a:r>
              <a:rPr lang="en-US" sz="900" dirty="0">
                <a:solidFill>
                  <a:srgbClr val="22303A"/>
                </a:solidFill>
              </a:rPr>
              <a:t>2 / 128</a:t>
            </a: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 dirty="0">
                <a:solidFill>
                  <a:srgbClr val="0E9594"/>
                </a:solidFill>
              </a:rPr>
              <a:t>AUC 0.860  |  fake-recall 54%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r>
              <a:rPr lang="en-US" sz="950" b="1" dirty="0">
                <a:solidFill>
                  <a:srgbClr val="C9971B"/>
                </a:solidFill>
              </a:rPr>
              <a:t>  =  Baseline</a:t>
            </a:r>
          </a:p>
          <a:p>
            <a:r>
              <a:rPr lang="en-US" sz="900" dirty="0" smtClean="0">
                <a:solidFill>
                  <a:srgbClr val="5C6B73"/>
                </a:solidFill>
              </a:rPr>
              <a:t>Note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Baseline is </a:t>
            </a:r>
            <a:r>
              <a:rPr lang="en-US" sz="900" dirty="0" smtClean="0">
                <a:solidFill>
                  <a:srgbClr val="22303A"/>
                </a:solidFill>
              </a:rPr>
              <a:t>the optimum</a:t>
            </a:r>
            <a:endParaRPr lang="en-US" sz="900" dirty="0">
              <a:solidFill>
                <a:srgbClr val="22303A"/>
              </a:solidFill>
            </a:endParaRPr>
          </a:p>
          <a:p>
            <a:r>
              <a:rPr lang="en-US" sz="900" b="1" dirty="0">
                <a:solidFill>
                  <a:srgbClr val="C9971B"/>
                </a:solidFill>
              </a:rPr>
              <a:t>AUC 0.860  |  fake-recall 54%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10" name="Picture 9" descr="fig_c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BiLSTM is weak — convolution is what matters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BiLSTM tops out at AUC ≈ 0.66 — barely above the MLP.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layers / wider hidden does not help: it is bottlenecked by representation, not temporal capacity.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RNN 0.66 vs CRNN 0.86 — the discriminative work is convolutional, not recurrent.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2 / 128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0.592  |  fake-recall 12%</a:t>
            </a:r>
          </a:p>
          <a:p>
            <a:endParaRPr lang="en-US" sz="900" b="1">
              <a:solidFill>
                <a:srgbClr val="0E9594"/>
              </a:solidFill>
            </a:endParaRPr>
          </a:p>
          <a:p>
            <a:r>
              <a:rPr lang="en-US" sz="950" b="1">
                <a:solidFill>
                  <a:srgbClr val="C9971B"/>
                </a:solidFill>
              </a:rPr>
              <a:t>Best config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1 / 128  ← fewer layers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0.660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Picture 9" descr="fig_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spoofing cue lives in an early-to-mid layer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955280" y="1691640"/>
            <a:ext cx="37792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weighted sum over hidden layers + linear head.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~81% of weight on layer 3 of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layer is nearly ignored.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13-layer variant (incl. CNN embedding) agrees — same block.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layers specialise for content; mid layers keep the acoustic artefacts.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Frozen </a:t>
            </a:r>
            <a:r>
              <a:rPr lang="en-US" sz="950" b="1" dirty="0" smtClean="0">
                <a:solidFill>
                  <a:srgbClr val="0E9594"/>
                </a:solidFill>
              </a:rPr>
              <a:t>backbone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Aggregation: </a:t>
            </a:r>
            <a:r>
              <a:rPr lang="en-US" sz="900" dirty="0" err="1">
                <a:solidFill>
                  <a:srgbClr val="22303A"/>
                </a:solidFill>
              </a:rPr>
              <a:t>Softmax</a:t>
            </a:r>
            <a:r>
              <a:rPr lang="en-US" sz="900" dirty="0">
                <a:solidFill>
                  <a:srgbClr val="22303A"/>
                </a:solidFill>
              </a:rPr>
              <a:t>-weighted sum, 12 layers</a:t>
            </a:r>
          </a:p>
          <a:p>
            <a:r>
              <a:rPr lang="en-US" sz="900" dirty="0">
                <a:solidFill>
                  <a:srgbClr val="5C6B73"/>
                </a:solidFill>
              </a:rPr>
              <a:t>Dominant layer: </a:t>
            </a:r>
            <a:r>
              <a:rPr lang="en-US" sz="900" dirty="0">
                <a:solidFill>
                  <a:srgbClr val="22303A"/>
                </a:solidFill>
              </a:rPr>
              <a:t>Layer 3 of 12  (~81% weight)</a:t>
            </a:r>
          </a:p>
          <a:p>
            <a:r>
              <a:rPr lang="en-US" sz="900" dirty="0">
                <a:solidFill>
                  <a:srgbClr val="5C6B73"/>
                </a:solidFill>
              </a:rPr>
              <a:t>Trainable </a:t>
            </a:r>
            <a:r>
              <a:rPr lang="en-US" sz="900" dirty="0" err="1">
                <a:solidFill>
                  <a:srgbClr val="5C6B73"/>
                </a:solidFill>
              </a:rPr>
              <a:t>params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~5K  (head only)</a:t>
            </a:r>
          </a:p>
          <a:p>
            <a:r>
              <a:rPr lang="en-US" sz="900" b="1" dirty="0">
                <a:solidFill>
                  <a:srgbClr val="0E9594"/>
                </a:solidFill>
              </a:rPr>
              <a:t>AUC 0.918  |  fake-recall 57%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Fine-tune 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endParaRPr lang="en-US" sz="950" b="1" dirty="0">
              <a:solidFill>
                <a:srgbClr val="C9971B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Unfrozen layers: </a:t>
            </a:r>
            <a:r>
              <a:rPr lang="en-US" sz="900" dirty="0">
                <a:solidFill>
                  <a:srgbClr val="22303A"/>
                </a:solidFill>
              </a:rPr>
              <a:t>Top 2 transformer blocks</a:t>
            </a:r>
          </a:p>
          <a:p>
            <a:r>
              <a:rPr lang="en-US" sz="900" dirty="0" err="1">
                <a:solidFill>
                  <a:srgbClr val="5C6B73"/>
                </a:solidFill>
              </a:rPr>
              <a:t>lr</a:t>
            </a:r>
            <a:r>
              <a:rPr lang="en-US" sz="900" dirty="0">
                <a:solidFill>
                  <a:srgbClr val="5C6B73"/>
                </a:solidFill>
              </a:rPr>
              <a:t> backbone / head: </a:t>
            </a:r>
            <a:r>
              <a:rPr lang="en-US" sz="900" dirty="0">
                <a:solidFill>
                  <a:srgbClr val="22303A"/>
                </a:solidFill>
              </a:rPr>
              <a:t>1e-5 / 1e-3</a:t>
            </a:r>
          </a:p>
          <a:p>
            <a:r>
              <a:rPr lang="en-US" sz="900" dirty="0">
                <a:solidFill>
                  <a:srgbClr val="5C6B73"/>
                </a:solidFill>
              </a:rPr>
              <a:t>Batch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32 / 0.01</a:t>
            </a:r>
          </a:p>
          <a:p>
            <a:r>
              <a:rPr lang="en-US" sz="900" b="1" dirty="0">
                <a:solidFill>
                  <a:srgbClr val="C9971B"/>
                </a:solidFill>
              </a:rPr>
              <a:t>AUC 0.865  |  fake-recall 45%  (domain shift)</a:t>
            </a:r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Picture 8" descr="fig_wavlm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69494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 &amp; scores explain the cross-dataset gap</a:t>
            </a:r>
            <a:endParaRPr lang="en-US" sz="2800" dirty="0"/>
          </a:p>
        </p:txBody>
      </p:sp>
      <p:sp>
        <p:nvSpPr>
          <p:cNvPr id="9" name="Text 3"/>
          <p:cNvSpPr/>
          <p:nvPr/>
        </p:nvSpPr>
        <p:spPr>
          <a:xfrm>
            <a:off x="1005840" y="12252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</a:t>
            </a:r>
            <a:r>
              <a:rPr lang="en-US" sz="1200" b="1" dirty="0" smtClean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backbone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00584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FINE-TUNE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UMAP: FoR clusters separate cleanly, but ITW points spread across the boundary — the domain shift made visual.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histograms: real/fake well separated on FoR; on ITW the fake mass leaks toward low scores — i.e. missed fakes.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an in-domain threshold under-detects ITW fakes.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82605"/>
            <a:ext cx="2743200" cy="224028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1802645"/>
            <a:ext cx="3840480" cy="155448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977640"/>
            <a:ext cx="2743200" cy="22402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4297680"/>
            <a:ext cx="3840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performance by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AUC: </a:t>
            </a:r>
            <a:r>
              <a:rPr lang="en-US" sz="1400" dirty="0" err="1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(0.92) &gt; CNN (0.87) ≈ CRNN (0.86) &gt; WavLM ft (0.86) &gt; MLP (0.79) &gt; RNN (0.66).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the ranking.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AUC is only half the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fake recall next.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9" name="Picture 8" descr="fig_result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594"/>
                </a:solidFill>
              </a:rPr>
              <a:t>RESULTS · AUC VS FAKE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303A"/>
                </a:solidFill>
              </a:rPr>
              <a:t>Ranking quality vs calibration -- and where each model errors fall</a:t>
            </a:r>
          </a:p>
        </p:txBody>
      </p:sp>
      <p:pic>
        <p:nvPicPr>
          <p:cNvPr id="5" name="Picture 4" descr="fig_auc_recal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0000"/>
            <a:ext cx="110947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00000"/>
            <a:ext cx="10515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dirty="0">
                <a:solidFill>
                  <a:srgbClr val="5C6B73"/>
                </a:solidFill>
              </a:rPr>
              <a:t>High AUC + low fake-recall at threshold 0.5 = calibration problem, not a modelling failure. Only CNN and </a:t>
            </a:r>
            <a:r>
              <a:rPr sz="1000" b="0" dirty="0" err="1">
                <a:solidFill>
                  <a:srgbClr val="5C6B73"/>
                </a:solidFill>
              </a:rPr>
              <a:t>WavLM</a:t>
            </a:r>
            <a:r>
              <a:rPr sz="1000" b="0" dirty="0">
                <a:solidFill>
                  <a:srgbClr val="5C6B73"/>
                </a:solidFill>
              </a:rPr>
              <a:t> </a:t>
            </a:r>
            <a:r>
              <a:rPr lang="en-US" sz="1000" b="0" dirty="0" smtClean="0">
                <a:solidFill>
                  <a:srgbClr val="5C6B73"/>
                </a:solidFill>
              </a:rPr>
              <a:t>backbone</a:t>
            </a:r>
            <a:r>
              <a:rPr sz="1000" b="0" dirty="0" smtClean="0">
                <a:solidFill>
                  <a:srgbClr val="5C6B73"/>
                </a:solidFill>
              </a:rPr>
              <a:t> </a:t>
            </a:r>
            <a:r>
              <a:rPr sz="1000" b="0" dirty="0">
                <a:solidFill>
                  <a:srgbClr val="5C6B73"/>
                </a:solidFill>
              </a:rPr>
              <a:t>sit in the target zone (top-right).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Audio Deepfake Detection — DL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KEY LESSON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AUC = good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ranking </a:t>
            </a: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but the default threshold may need calibration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measures ranking quality (threshold-free). Low fake-recall at the default 0.5 threshold is a calibration problem, not a modelling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fixed by tuning the threshold. 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fake clips actually caught (ITW fake-class recall)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CNN 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</a:t>
            </a:r>
            <a:r>
              <a:rPr lang="en-US" sz="1500" b="1" dirty="0" err="1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WavLM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backbone 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combine high AUC with good out-of-the-box calibration. WavLM fine-tune has high AUC but collapses at threshold 0.5 under domain shift </a:t>
            </a: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r>
              <a:rPr lang="en-US" sz="15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hreshold </a:t>
            </a: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tuning would recover much of its fake-recall.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Rectangle 24"/>
          <p:cNvSpPr/>
          <p:nvPr/>
        </p:nvSpPr>
        <p:spPr>
          <a:xfrm>
            <a:off x="8229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0E9594"/>
                </a:solidFill>
              </a:rPr>
              <a:t>72%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CNN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8608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58608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8E7CC3"/>
                </a:solidFill>
              </a:rPr>
              <a:t>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8869" y="3794760"/>
            <a:ext cx="139442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dirty="0" err="1">
                <a:solidFill>
                  <a:srgbClr val="6B7B85"/>
                </a:solidFill>
              </a:rPr>
              <a:t>WavLM</a:t>
            </a:r>
            <a:r>
              <a:rPr sz="1300" b="0" dirty="0">
                <a:solidFill>
                  <a:srgbClr val="6B7B85"/>
                </a:solidFill>
              </a:rPr>
              <a:t> </a:t>
            </a:r>
            <a:r>
              <a:rPr lang="en-US" sz="1300" b="0" dirty="0" smtClean="0">
                <a:solidFill>
                  <a:srgbClr val="6B7B85"/>
                </a:solidFill>
              </a:rPr>
              <a:t>backbone</a:t>
            </a:r>
            <a:endParaRPr sz="1300" b="0" dirty="0">
              <a:solidFill>
                <a:srgbClr val="6B7B85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34920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4920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3E7CB1"/>
                </a:solidFill>
              </a:rPr>
              <a:t>54%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20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CRNN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232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1232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C9971B"/>
                </a:solidFill>
              </a:rPr>
              <a:t>45%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232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WavLM ft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544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544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7544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385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385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85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RNN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Generalisation gap: fine-tuning overfits the source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138160" y="1691640"/>
            <a:ext cx="359633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WavLM: near-perfect FoR (AUC ~0.99) but the biggest ITW drop.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best — smallest gap, highest ITW.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backbone can beat fine-tuning.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 descr="fig_ge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71323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 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 now; a degradation study next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9728" cy="219456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— training-side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waveform augmentation in the WavLM fine-tune: MUSAN additive noise (0–15 dB SNR), simulated-RIR reverberation, and codec compression — applied to the train split only (no leakage).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02920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109728" cy="219456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 — evaluation-side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0428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the TEST set at fixed SNRs (10 / 0 dB) + reverb and re-score every checkpoint → an AUC-vs-SNR degradation curve per architecture. Inference-only, using a held-out noise/RIR partition.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architecture degrades most gracefully under noise — and how much the augmentation helps — is the natural next experiment.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cross-dataset AUC: MLP 0.79 → CNN/CRNN 0.86–0.87 → WavLM 0.92.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AUC together with fake recall — MLP/RNN catch only ~17% of fakes despite passable accuracy.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carries the recurrent path: pure BiLSTM 0.66 vs CRNN 0.86.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capacity &amp; regularisation — don't maximise them; middle settings generalise best.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WavLM backbone beats fine-tuning; the cue sits in a mid layer.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evaluation-side noise-robustness curves, EER, and multi-seed error bars.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1629</Words>
  <Application>Microsoft Office PowerPoint</Application>
  <PresentationFormat>Widescreen</PresentationFormat>
  <Paragraphs>240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Deepfake Detection</dc:title>
  <dc:subject>PptxGenJS Presentation</dc:subject>
  <dc:creator>George</dc:creator>
  <cp:lastModifiedBy>Microsoft account</cp:lastModifiedBy>
  <cp:revision>4</cp:revision>
  <dcterms:created xsi:type="dcterms:W3CDTF">2026-06-21T20:02:10Z</dcterms:created>
  <dcterms:modified xsi:type="dcterms:W3CDTF">2026-06-22T20:27:27Z</dcterms:modified>
</cp:coreProperties>
</file>