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20574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 DEEPFAKE DETECTION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30632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comparison of deep-learning architectures for real-vs-fake speech, with cross-dataset evaluation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E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course project</a:t>
            </a:r>
            <a:endParaRPr lang="en-US" sz="1300" dirty="0"/>
          </a:p>
        </p:txBody>
      </p:sp>
      <p:sp>
        <p:nvSpPr>
          <p:cNvPr id="7" name="TextBox 6"/>
          <p:cNvSpPr txBox="1"/>
          <p:nvPr/>
        </p:nvSpPr>
        <p:spPr>
          <a:xfrm>
            <a:off x="841248" y="6320000"/>
            <a:ext cx="100584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7E94A0"/>
                </a:solidFill>
              </a:rPr>
              <a:t>George Nazos  MTN2519     |     Konstantinos Kaimakis  MTN2508</a:t>
            </a:r>
          </a:p>
          <a:p>
            <a:pPr algn="l"/>
            <a:r>
              <a:rPr sz="1000" b="0">
                <a:solidFill>
                  <a:srgbClr val="7E94A0"/>
                </a:solidFill>
              </a:rPr>
              <a:t>MSc Artificial Intelligence  ·  NSCR Demokritos &amp; UNIPI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problem, and why it's hard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65836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speech is now near-indistinguishable from real, enabling fraud and disinformation.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 is not in-domain accuracy — it is generalising to unseen generators and recording conditions.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train on one corpus (FoR) and test on a completely independent one (ITW): an honest stress test.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set is class-imbalanced — accuracy alone is misleading; catching fakes is what matters.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1812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818120" y="193852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31,779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001000" y="2670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 test clips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18120" y="33375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818120" y="34472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63% / 37%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001000" y="41788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/ fake split (imbalanced)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APPROACH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architecture families, increasing learned representation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37360"/>
          <a:ext cx="10515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393192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hand-crafted features (MFCC, chroma, contrast, ZCR)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features + shallow classifier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mel-spectrogram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2-D spectral 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RNN / CRNN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mel-spectrogram (time series)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modelling, with / without a CNN block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WavLM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waveform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self-supervised transformer: frozen probe vs fine-tune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1–3: focused one-axis sweeps (capacity, LR, regularisation) with interpretation.  Family 4: an analysis of how to use a pretrained backbone.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 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Cross-dataset protocol, leakage control,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4592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1645920"/>
            <a:ext cx="109728" cy="141732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2128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(for-norm) for train + validation (in-domain); In-the-Wild for test only — an independent corpus, so results measure true generalisation.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02920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09360" y="1645920"/>
            <a:ext cx="109728" cy="1417320"/>
          </a:xfrm>
          <a:prstGeom prst="rect">
            <a:avLst/>
          </a:prstGeom>
          <a:solidFill>
            <a:srgbClr val="E867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imbalance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212848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 is 63% real / 37% fake. We report per-class precision/recall/F1 and macro-F1, and treat fake-class recall as the operational metric.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24612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2960" y="3246120"/>
            <a:ext cx="109728" cy="1417320"/>
          </a:xfrm>
          <a:prstGeom prst="rect">
            <a:avLst/>
          </a:prstGeom>
          <a:solidFill>
            <a:srgbClr val="3E7CB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3383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Leakage control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38130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kHz mono; fixed-duration crop/pad. Feature scalers fit on clean training data only. Noise augmentation applied to the train split only.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46120"/>
            <a:ext cx="502920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309360" y="3246120"/>
            <a:ext cx="109728" cy="1417320"/>
          </a:xfrm>
          <a:prstGeom prst="rect">
            <a:avLst/>
          </a:prstGeom>
          <a:solidFill>
            <a:srgbClr val="C9971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8368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0" y="3813048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(primary, threshold-free), accuracy, macro-F1, per-class P/R/F1. EER noted as follow-up (per-sample scores not retained).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1 · MLP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Hand-crafted features set a hard ceiling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panel varies one hyperparameter, others fixed at baseline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 ≈ 0.79 — above chance but the weakest learned model.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capacity hurts: wide/deep nets overfit FoR and transfer worse.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 dominates; 1e-3 wins on this low-dim feature space.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 is the features, not the classifier.</a:t>
            </a:r>
            <a:endParaRPr lang="en-US" sz="1400" dirty="0"/>
          </a:p>
          <a:p/>
          <a:p>
            <a:r>
              <a:rPr lang="en-US" sz="800"/>
              <a:t/>
            </a:r>
          </a:p>
          <a:p>
            <a:r>
              <a:rPr lang="en-US" sz="950" b="1">
                <a:solidFill>
                  <a:srgbClr val="0E9594"/>
                </a:solidFill>
              </a:rPr>
              <a:t>Baseline config</a:t>
            </a:r>
          </a:p>
          <a:p>
            <a:r>
              <a:rPr lang="en-US" sz="900">
                <a:solidFill>
                  <a:srgbClr val="5C6B73"/>
                </a:solidFill>
              </a:rPr>
              <a:t>Hidden layers: </a:t>
            </a:r>
            <a:r>
              <a:rPr lang="en-US" sz="900">
                <a:solidFill>
                  <a:srgbClr val="22303A"/>
                </a:solidFill>
              </a:rPr>
              <a:t>[256, 128, 64]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5e-4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>
                <a:solidFill>
                  <a:srgbClr val="0E9594"/>
                </a:solidFill>
              </a:rPr>
              <a:t>AUC 0.769  |  fake-recall 12%</a:t>
            </a:r>
          </a:p>
          <a:p>
            <a:r>
              <a:rPr lang="en-US" sz="800"/>
              <a:t/>
            </a:r>
          </a:p>
          <a:p>
            <a:r>
              <a:rPr lang="en-US" sz="950" b="1">
                <a:solidFill>
                  <a:srgbClr val="C9971B"/>
                </a:solidFill>
              </a:rPr>
              <a:t>Best config</a:t>
            </a:r>
          </a:p>
          <a:p>
            <a:r>
              <a:rPr lang="en-US" sz="900">
                <a:solidFill>
                  <a:srgbClr val="5C6B73"/>
                </a:solidFill>
              </a:rPr>
              <a:t>Hidden layers: </a:t>
            </a:r>
            <a:r>
              <a:rPr lang="en-US" sz="900">
                <a:solidFill>
                  <a:srgbClr val="22303A"/>
                </a:solidFill>
              </a:rPr>
              <a:t>[256, 128, 64]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1e-3  ← only change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>
                <a:solidFill>
                  <a:srgbClr val="C9971B"/>
                </a:solidFill>
              </a:rPr>
              <a:t>AUC 0.786  |  fake-recall 17%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10" name="Picture 9" descr="fig_mlp_hpa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2 · CNN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 spectral features — the strongest from-scratch model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 ≈ 0.87 / acc ≈ 0.83, and the best fake recall (~72%).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sweet spot at 3 blocks; 2 collapses, 4 overfits.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Width: 32 channels ideal; 64 adds nothing.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decay 1e-3 is catastrophic — erases the cue; 1e-4 is right.</a:t>
            </a:r>
            <a:endParaRPr lang="en-US" sz="1400" dirty="0"/>
          </a:p>
          <a:p/>
          <a:p>
            <a:r>
              <a:rPr lang="en-US" sz="800"/>
              <a:t/>
            </a:r>
          </a:p>
          <a:p>
            <a:r>
              <a:rPr lang="en-US" sz="950" b="1">
                <a:solidFill>
                  <a:srgbClr val="0E9594"/>
                </a:solidFill>
              </a:rPr>
              <a:t>Baseline config</a:t>
            </a:r>
          </a:p>
          <a:p>
            <a:r>
              <a:rPr lang="en-US" sz="900">
                <a:solidFill>
                  <a:srgbClr val="5C6B73"/>
                </a:solidFill>
              </a:rPr>
              <a:t>Conv depth / ch: </a:t>
            </a:r>
            <a:r>
              <a:rPr lang="en-US" sz="900">
                <a:solidFill>
                  <a:srgbClr val="22303A"/>
                </a:solidFill>
              </a:rPr>
              <a:t>3 blocks / 32 ch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5e-4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>
                <a:solidFill>
                  <a:srgbClr val="5C6B73"/>
                </a:solidFill>
              </a:rPr>
              <a:t>Note: </a:t>
            </a:r>
            <a:r>
              <a:rPr lang="en-US" sz="900">
                <a:solidFill>
                  <a:srgbClr val="22303A"/>
                </a:solidFill>
              </a:rPr>
              <a:t>dropout 0.3 beats 0.5 at this lr</a:t>
            </a:r>
          </a:p>
          <a:p>
            <a:r>
              <a:rPr lang="en-US" sz="900" b="1">
                <a:solidFill>
                  <a:srgbClr val="0E9594"/>
                </a:solidFill>
              </a:rPr>
              <a:t>AUC 0.681  |  fake-recall 46%</a:t>
            </a:r>
          </a:p>
          <a:p>
            <a:r>
              <a:rPr lang="en-US" sz="800"/>
              <a:t/>
            </a:r>
          </a:p>
          <a:p>
            <a:r>
              <a:rPr lang="en-US" sz="950" b="1">
                <a:solidFill>
                  <a:srgbClr val="C9971B"/>
                </a:solidFill>
              </a:rPr>
              <a:t>Best config</a:t>
            </a:r>
          </a:p>
          <a:p>
            <a:r>
              <a:rPr lang="en-US" sz="900">
                <a:solidFill>
                  <a:srgbClr val="5C6B73"/>
                </a:solidFill>
              </a:rPr>
              <a:t>Conv depth / ch: </a:t>
            </a:r>
            <a:r>
              <a:rPr lang="en-US" sz="900">
                <a:solidFill>
                  <a:srgbClr val="22303A"/>
                </a:solidFill>
              </a:rPr>
              <a:t>3 blocks / 32 ch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1e-3  ← only change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>
                <a:solidFill>
                  <a:srgbClr val="5C6B73"/>
                </a:solidFill>
              </a:rPr>
              <a:t>Note: </a:t>
            </a:r>
            <a:r>
              <a:rPr lang="en-US" sz="900">
                <a:solidFill>
                  <a:srgbClr val="22303A"/>
                </a:solidFill>
              </a:rPr>
              <a:t>lr×dropout interaction: lr 1e-3 needs do 0.5</a:t>
            </a:r>
          </a:p>
          <a:p>
            <a:r>
              <a:rPr lang="en-US" sz="900" b="1">
                <a:solidFill>
                  <a:srgbClr val="C9971B"/>
                </a:solidFill>
              </a:rPr>
              <a:t>AUC 0.870  |  fake-recall 72%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10" name="Picture 9" descr="fig_cnn_hpa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3 · CRNN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Adding a CNN block to the recurrent path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CRNN ≈ CNN (AUC ≈ 0.86): the CNN block does the heavy lifting.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conv depth 3, 32 ch, 2 BiLSTM layers, lr 5e-4.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LR (1e-3) destabilises the recurrent path.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modelling adds little once convolution is present.</a:t>
            </a:r>
            <a:endParaRPr lang="en-US" sz="1400" dirty="0"/>
          </a:p>
          <a:p/>
          <a:p>
            <a:r>
              <a:rPr lang="en-US" sz="800"/>
              <a:t/>
            </a:r>
          </a:p>
          <a:p>
            <a:r>
              <a:rPr lang="en-US" sz="950" b="1">
                <a:solidFill>
                  <a:srgbClr val="0E9594"/>
                </a:solidFill>
              </a:rPr>
              <a:t>Baseline config</a:t>
            </a:r>
          </a:p>
          <a:p>
            <a:r>
              <a:rPr lang="en-US" sz="900">
                <a:solidFill>
                  <a:srgbClr val="5C6B73"/>
                </a:solidFill>
              </a:rPr>
              <a:t>CNN depth / ch: </a:t>
            </a:r>
            <a:r>
              <a:rPr lang="en-US" sz="900">
                <a:solidFill>
                  <a:srgbClr val="22303A"/>
                </a:solidFill>
              </a:rPr>
              <a:t>3 blocks / 32 ch</a:t>
            </a:r>
          </a:p>
          <a:p>
            <a:r>
              <a:rPr lang="en-US" sz="900">
                <a:solidFill>
                  <a:srgbClr val="5C6B73"/>
                </a:solidFill>
              </a:rPr>
              <a:t>BiLSTM layers / h: </a:t>
            </a:r>
            <a:r>
              <a:rPr lang="en-US" sz="900">
                <a:solidFill>
                  <a:srgbClr val="22303A"/>
                </a:solidFill>
              </a:rPr>
              <a:t>2 / 128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5e-4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>
                <a:solidFill>
                  <a:srgbClr val="0E9594"/>
                </a:solidFill>
              </a:rPr>
              <a:t>AUC 0.860  |  fake-recall 54%</a:t>
            </a:r>
          </a:p>
          <a:p>
            <a:r>
              <a:rPr lang="en-US" sz="800"/>
              <a:t/>
            </a:r>
          </a:p>
          <a:p>
            <a:r>
              <a:rPr lang="en-US" sz="950" b="1">
                <a:solidFill>
                  <a:srgbClr val="C9971B"/>
                </a:solidFill>
              </a:rPr>
              <a:t>Best config  =  Baseline</a:t>
            </a:r>
          </a:p>
          <a:p>
            <a:r>
              <a:rPr lang="en-US" sz="900">
                <a:solidFill>
                  <a:srgbClr val="5C6B73"/>
                </a:solidFill>
              </a:rPr>
              <a:t>Note: </a:t>
            </a:r>
            <a:r>
              <a:rPr lang="en-US" sz="900">
                <a:solidFill>
                  <a:srgbClr val="22303A"/>
                </a:solidFill>
              </a:rPr>
              <a:t>No variation improved on baseline</a:t>
            </a:r>
          </a:p>
          <a:p>
            <a:r>
              <a:rPr lang="en-US" sz="900">
                <a:solidFill>
                  <a:srgbClr val="5C6B73"/>
                </a:solidFill>
              </a:rPr>
              <a:t>Note: </a:t>
            </a:r>
            <a:r>
              <a:rPr lang="en-US" sz="900">
                <a:solidFill>
                  <a:srgbClr val="22303A"/>
                </a:solidFill>
              </a:rPr>
              <a:t>Baseline is already the global optimum</a:t>
            </a:r>
          </a:p>
          <a:p>
            <a:r>
              <a:rPr lang="en-US" sz="900" b="1">
                <a:solidFill>
                  <a:srgbClr val="C9971B"/>
                </a:solidFill>
              </a:rPr>
              <a:t>AUC 0.860  |  fake-recall 54%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10" name="Picture 9" descr="fig_crnn_hpa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3 · RNN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Pure BiLSTM is weak — convolution is what matters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BiLSTM tops out at AUC ≈ 0.66 — barely above the MLP.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layers / wider hidden does not help: it is bottlenecked by representation, not temporal capacity.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RNN 0.66 vs CRNN 0.86 — the discriminative work is convolutional, not recurrent.</a:t>
            </a:r>
            <a:endParaRPr lang="en-US" sz="1400" dirty="0"/>
          </a:p>
          <a:p/>
          <a:p>
            <a:r>
              <a:rPr lang="en-US" sz="800"/>
              <a:t/>
            </a:r>
          </a:p>
          <a:p>
            <a:r>
              <a:rPr lang="en-US" sz="950" b="1">
                <a:solidFill>
                  <a:srgbClr val="0E9594"/>
                </a:solidFill>
              </a:rPr>
              <a:t>Baseline config</a:t>
            </a:r>
          </a:p>
          <a:p>
            <a:r>
              <a:rPr lang="en-US" sz="900">
                <a:solidFill>
                  <a:srgbClr val="5C6B73"/>
                </a:solidFill>
              </a:rPr>
              <a:t>BiLSTM layers / h: </a:t>
            </a:r>
            <a:r>
              <a:rPr lang="en-US" sz="900">
                <a:solidFill>
                  <a:srgbClr val="22303A"/>
                </a:solidFill>
              </a:rPr>
              <a:t>2 / 128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5e-4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>
                <a:solidFill>
                  <a:srgbClr val="0E9594"/>
                </a:solidFill>
              </a:rPr>
              <a:t>AUC 0.592  |  fake-recall 12%</a:t>
            </a:r>
          </a:p>
          <a:p>
            <a:r>
              <a:rPr lang="en-US" sz="800"/>
              <a:t/>
            </a:r>
          </a:p>
          <a:p>
            <a:r>
              <a:rPr lang="en-US" sz="950" b="1">
                <a:solidFill>
                  <a:srgbClr val="C9971B"/>
                </a:solidFill>
              </a:rPr>
              <a:t>Best config</a:t>
            </a:r>
          </a:p>
          <a:p>
            <a:r>
              <a:rPr lang="en-US" sz="900">
                <a:solidFill>
                  <a:srgbClr val="5C6B73"/>
                </a:solidFill>
              </a:rPr>
              <a:t>BiLSTM layers / h: </a:t>
            </a:r>
            <a:r>
              <a:rPr lang="en-US" sz="900">
                <a:solidFill>
                  <a:srgbClr val="22303A"/>
                </a:solidFill>
              </a:rPr>
              <a:t>1 / 128  ← fewer layers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5e-4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>
                <a:solidFill>
                  <a:srgbClr val="C9971B"/>
                </a:solidFill>
              </a:rPr>
              <a:t>AUC 0.660  |  fake-recall 17%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10" name="Picture 9" descr="fig_rnn_hpa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spoofing cue lives in an early-to-mid layer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955280" y="1691640"/>
            <a:ext cx="377921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probe = weighted sum over hidden layers + linear head.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~81% of weight on layer 3 of 12; the top layer is nearly ignored.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13-layer variant (incl. CNN embedding) agrees — same block.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layers specialise for content; mid layers keep the acoustic artefacts.</a:t>
            </a:r>
            <a:endParaRPr lang="en-US" sz="1400" dirty="0"/>
          </a:p>
          <a:p/>
          <a:p>
            <a:r>
              <a:rPr lang="en-US" sz="800"/>
              <a:t/>
            </a:r>
          </a:p>
          <a:p>
            <a:r>
              <a:rPr lang="en-US" sz="950" b="1">
                <a:solidFill>
                  <a:srgbClr val="0E9594"/>
                </a:solidFill>
              </a:rPr>
              <a:t>Frozen probe config</a:t>
            </a:r>
          </a:p>
          <a:p>
            <a:r>
              <a:rPr lang="en-US" sz="900">
                <a:solidFill>
                  <a:srgbClr val="5C6B73"/>
                </a:solidFill>
              </a:rPr>
              <a:t>Aggregation: </a:t>
            </a:r>
            <a:r>
              <a:rPr lang="en-US" sz="900">
                <a:solidFill>
                  <a:srgbClr val="22303A"/>
                </a:solidFill>
              </a:rPr>
              <a:t>Softmax-weighted sum, 12 layers</a:t>
            </a:r>
          </a:p>
          <a:p>
            <a:r>
              <a:rPr lang="en-US" sz="900">
                <a:solidFill>
                  <a:srgbClr val="5C6B73"/>
                </a:solidFill>
              </a:rPr>
              <a:t>Dominant layer: </a:t>
            </a:r>
            <a:r>
              <a:rPr lang="en-US" sz="900">
                <a:solidFill>
                  <a:srgbClr val="22303A"/>
                </a:solidFill>
              </a:rPr>
              <a:t>Layer 3 of 12  (~81% weight)</a:t>
            </a:r>
          </a:p>
          <a:p>
            <a:r>
              <a:rPr lang="en-US" sz="900">
                <a:solidFill>
                  <a:srgbClr val="5C6B73"/>
                </a:solidFill>
              </a:rPr>
              <a:t>Trainable params: </a:t>
            </a:r>
            <a:r>
              <a:rPr lang="en-US" sz="900">
                <a:solidFill>
                  <a:srgbClr val="22303A"/>
                </a:solidFill>
              </a:rPr>
              <a:t>~5K  (head only)</a:t>
            </a:r>
          </a:p>
          <a:p>
            <a:r>
              <a:rPr lang="en-US" sz="900" b="1">
                <a:solidFill>
                  <a:srgbClr val="0E9594"/>
                </a:solidFill>
              </a:rPr>
              <a:t>AUC 0.918  |  fake-recall 57%</a:t>
            </a:r>
          </a:p>
          <a:p>
            <a:r>
              <a:rPr lang="en-US" sz="800"/>
              <a:t/>
            </a:r>
          </a:p>
          <a:p>
            <a:r>
              <a:rPr lang="en-US" sz="950" b="1">
                <a:solidFill>
                  <a:srgbClr val="C9971B"/>
                </a:solidFill>
              </a:rPr>
              <a:t>Fine-tune best config</a:t>
            </a:r>
          </a:p>
          <a:p>
            <a:r>
              <a:rPr lang="en-US" sz="900">
                <a:solidFill>
                  <a:srgbClr val="5C6B73"/>
                </a:solidFill>
              </a:rPr>
              <a:t>Unfrozen layers: </a:t>
            </a:r>
            <a:r>
              <a:rPr lang="en-US" sz="900">
                <a:solidFill>
                  <a:srgbClr val="22303A"/>
                </a:solidFill>
              </a:rPr>
              <a:t>Top 2 transformer blocks</a:t>
            </a:r>
          </a:p>
          <a:p>
            <a:r>
              <a:rPr lang="en-US" sz="900">
                <a:solidFill>
                  <a:srgbClr val="5C6B73"/>
                </a:solidFill>
              </a:rPr>
              <a:t>lr backbone / head: </a:t>
            </a:r>
            <a:r>
              <a:rPr lang="en-US" sz="900">
                <a:solidFill>
                  <a:srgbClr val="22303A"/>
                </a:solidFill>
              </a:rPr>
              <a:t>1e-5 / 1e-3</a:t>
            </a:r>
          </a:p>
          <a:p>
            <a:r>
              <a:rPr lang="en-US" sz="900">
                <a:solidFill>
                  <a:srgbClr val="5C6B73"/>
                </a:solidFill>
              </a:rPr>
              <a:t>Batch / wd: </a:t>
            </a:r>
            <a:r>
              <a:rPr lang="en-US" sz="900">
                <a:solidFill>
                  <a:srgbClr val="22303A"/>
                </a:solidFill>
              </a:rPr>
              <a:t>32 / 0.01</a:t>
            </a:r>
          </a:p>
          <a:p>
            <a:r>
              <a:rPr lang="en-US" sz="900" b="1">
                <a:solidFill>
                  <a:srgbClr val="C9971B"/>
                </a:solidFill>
              </a:rPr>
              <a:t>AUC 0.865  |  fake-recall 45%  (domain shift)</a:t>
            </a:r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9" name="Picture 8" descr="fig_wavlm_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28800"/>
            <a:ext cx="69494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Embeddings &amp; scores explain the cross-dataset gap</a:t>
            </a:r>
            <a:endParaRPr lang="en-US" sz="2800" dirty="0"/>
          </a:p>
        </p:txBody>
      </p:sp>
      <p:sp>
        <p:nvSpPr>
          <p:cNvPr id="9" name="Text 3"/>
          <p:cNvSpPr/>
          <p:nvPr/>
        </p:nvSpPr>
        <p:spPr>
          <a:xfrm>
            <a:off x="1005840" y="1371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FROZEN PROBE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1005840" y="3749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BEST FINE-TUNE</a:t>
            </a:r>
            <a:endParaRPr lang="en-US" sz="1200" dirty="0"/>
          </a:p>
        </p:txBody>
      </p:sp>
      <p:sp>
        <p:nvSpPr>
          <p:cNvPr id="11" name="Text 5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UMAP: FoR clusters separate cleanly, but ITW points spread across the boundary — the domain shift made visual.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histograms: real/fake well separated on FoR; on ITW the fake mass leaks toward low scores — i.e. missed fakes.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why an in-domain threshold under-detects ITW fakes.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1600200"/>
            <a:ext cx="2743200" cy="224028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920240"/>
            <a:ext cx="3840480" cy="155448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3977640"/>
            <a:ext cx="2743200" cy="22402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4297680"/>
            <a:ext cx="3840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Cross-dataset performance by model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AUC: WavLM probe (0.92) &gt; CNN (0.87) ≈ CRNN (0.86) &gt; WavLM ft (0.86) &gt; MLP (0.79) &gt; RNN (0.66).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learning drives the ranking.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AUC is only half the story — see fake recall next.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9" name="Picture 8" descr="fig_results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69164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· KEY LESSON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AUC = good ranking — but the default threshold may need calibration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measures ranking quality (threshold-free). Low fake-recall at the default 0.5 threshold is a calibration problem, not a modelling failure — it can be fixed by tuning the threshold. A low-AUC model cannot be rescued by calibration alone.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fake clips actually caught (ITW fake-class recall)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CNN and WavLM probe combine high AUC with good out-of-the-box calibration. WavLM fine-tune has high AUC but collapses at threshold 0.5 under domain shift — threshold tuning would recover much of its fake-recall.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5" name="Rectangle 24"/>
          <p:cNvSpPr/>
          <p:nvPr/>
        </p:nvSpPr>
        <p:spPr>
          <a:xfrm>
            <a:off x="82296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3600">
                <a:solidFill>
                  <a:srgbClr val="0E9594"/>
                </a:solidFill>
              </a:rPr>
              <a:t>72%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0" sz="1300">
                <a:solidFill>
                  <a:srgbClr val="6B7B85"/>
                </a:solidFill>
              </a:rPr>
              <a:t>CNN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8608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8608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3600">
                <a:solidFill>
                  <a:srgbClr val="8E7CC3"/>
                </a:solidFill>
              </a:rPr>
              <a:t>57%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8608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0" sz="1300">
                <a:solidFill>
                  <a:srgbClr val="6B7B85"/>
                </a:solidFill>
              </a:rPr>
              <a:t>WavLM probe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920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920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3600">
                <a:solidFill>
                  <a:srgbClr val="3E7CB1"/>
                </a:solidFill>
              </a:rPr>
              <a:t>54%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920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0" sz="1300">
                <a:solidFill>
                  <a:srgbClr val="6B7B85"/>
                </a:solidFill>
              </a:rPr>
              <a:t>CRNN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1232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1232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3600">
                <a:solidFill>
                  <a:srgbClr val="C9971B"/>
                </a:solidFill>
              </a:rPr>
              <a:t>45%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232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0" sz="1300">
                <a:solidFill>
                  <a:srgbClr val="6B7B85"/>
                </a:solidFill>
              </a:rPr>
              <a:t>WavLM ft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7544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7544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3600">
                <a:solidFill>
                  <a:srgbClr val="E8674F"/>
                </a:solidFill>
              </a:rPr>
              <a:t>17%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7544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0" sz="1300">
                <a:solidFill>
                  <a:srgbClr val="6B7B85"/>
                </a:solidFill>
              </a:rPr>
              <a:t>MLP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3856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856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3600">
                <a:solidFill>
                  <a:srgbClr val="E8674F"/>
                </a:solidFill>
              </a:rPr>
              <a:t>17%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856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0" sz="1300">
                <a:solidFill>
                  <a:srgbClr val="6B7B85"/>
                </a:solidFill>
              </a:rPr>
              <a:t>RNN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· DIAGNOSIS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Generalisation gap: fine-tuning overfits the source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138160" y="1691640"/>
            <a:ext cx="359633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WavLM: near-perfect FoR (AUC ~0.99) but the biggest ITW drop.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probe transfers best — smallest gap, highest ITW.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domain shift, freezing the backbone can beat fine-tuning.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9" name="Picture 8" descr="fig_gen_g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783080"/>
            <a:ext cx="71323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NOISE ROBUSTNESS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Augmentation now; a degradation study next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737360"/>
            <a:ext cx="5212080" cy="2194560"/>
          </a:xfrm>
          <a:prstGeom prst="roundRect">
            <a:avLst>
              <a:gd name="adj" fmla="val 29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1737360"/>
            <a:ext cx="109728" cy="219456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Done — training-side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304288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waveform augmentation in the WavLM fine-tune: MUSAN additive noise (0–15 dB SNR), simulated-RIR reverberation, and codec compression — applied to the train split only (no leakage).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029200" cy="2194560"/>
          </a:xfrm>
          <a:prstGeom prst="roundRect">
            <a:avLst>
              <a:gd name="adj" fmla="val 29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09360" y="1737360"/>
            <a:ext cx="109728" cy="2194560"/>
          </a:xfrm>
          <a:prstGeom prst="rect">
            <a:avLst/>
          </a:prstGeom>
          <a:solidFill>
            <a:srgbClr val="C9971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8368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 — evaluation-side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30428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the TEST set at fixed SNRs (10 / 0 dB) + reverb and re-score every checkpoint → an AUC-vs-SNR degradation curve per architecture. Inference-only, using a held-out noise/RIR partition.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architecture degrades most gracefully under noise — and how much the augmentation helps — is the natural next experiment.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68680" y="155448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learning drives cross-dataset AUC: MLP 0.79 → CNN/CRNN 0.86–0.87 → WavLM 0.92.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AUC together with fake recall — MLP/RNN catch only ~17% of fakes despite passable accuracy.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carries the recurrent path: pure BiLSTM 0.66 vs CRNN 0.86.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capacity &amp; regularisation — don't maximise them; middle settings generalise best.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domain shift, freezing the WavLM backbone beats fine-tuning; the cue sits in a mid layer.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evaluation-side noise-robustness curves, EER, and multi-seed error bars.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p/>
        </p:txBody>
      </p:sp>
      <p:sp>
        <p:nvSpPr>
          <p:cNvPr id="3" name="TextBox 2"/>
          <p:cNvSpPr txBox="1"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0E9594"/>
                </a:solidFill>
              </a:rPr>
              <a:t>RESULTS · AUC VS FAKE RECALL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22303A"/>
                </a:solidFill>
              </a:rPr>
              <a:t>Ranking quality vs calibration -- and where each model errors fall</a:t>
            </a:r>
          </a:p>
        </p:txBody>
      </p:sp>
      <p:pic>
        <p:nvPicPr>
          <p:cNvPr id="5" name="Picture 4" descr="fig_auc_recall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0000"/>
            <a:ext cx="1109472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100000"/>
            <a:ext cx="10515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000">
                <a:solidFill>
                  <a:srgbClr val="5C6B73"/>
                </a:solidFill>
              </a:rPr>
              <a:t>High AUC + low fake-recall at threshold 0.5 = calibration problem, not a modelling failure. Only CNN and WavLM probe sit in the target zone (top-right).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900">
                <a:solidFill>
                  <a:srgbClr val="6B7B85"/>
                </a:solidFill>
              </a:rPr>
              <a:t>Audio Deepfake Detection — DL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900">
                <a:solidFill>
                  <a:srgbClr val="6B7B85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Audio Deepfake Detection</dc:title>
  <dc:subject>PptxGenJS Presentation</dc:subject>
  <dc:creator>George</dc:creator>
  <cp:lastModifiedBy>George</cp:lastModifiedBy>
  <cp:revision>1</cp:revision>
  <dcterms:created xsi:type="dcterms:W3CDTF">2026-06-21T20:02:10Z</dcterms:created>
  <dcterms:modified xsi:type="dcterms:W3CDTF">2026-06-21T20:02:10Z</dcterms:modified>
</cp:coreProperties>
</file>