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6E98FF3-A6CB-4A97-B635-24DF9CAF170E}">
  <a:tblStyle styleId="{66E98FF3-A6CB-4A97-B635-24DF9CAF170E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39C8F4CB-DBC8-4125-8BB8-B8073DC68C89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fill>
          <a:solidFill>
            <a:srgbClr val="CDD4EA"/>
          </a:solidFill>
        </a:fill>
      </a:tcStyle>
    </a:band1H>
    <a:band2H>
      <a:tcTxStyle/>
    </a:band2H>
    <a:band1V>
      <a:tcTxStyle/>
      <a:tcStyle>
        <a:fill>
          <a:solidFill>
            <a:srgbClr val="CDD4EA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" name="Google Shape;23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" name="Google Shape;40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2" name="Google Shape;52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5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5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1" name="Google Shape;91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3" name="Google Shape;103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5" name="Google Shape;115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8" name="Google Shape;128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0" name="Google Shape;140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1" name="Google Shape;151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4" name="Google Shape;164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9" name="Google Shape;179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4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4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2" name="Google Shape;202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4" name="Google Shape;214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9" name="Google Shape;229;p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2B3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E959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4"/>
          <p:cNvSpPr/>
          <p:nvPr/>
        </p:nvSpPr>
        <p:spPr>
          <a:xfrm>
            <a:off x="822960" y="2057400"/>
            <a:ext cx="106070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Trebuchet MS"/>
              <a:buNone/>
            </a:pPr>
            <a:r>
              <a:rPr b="1" lang="en-US"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AUDIO DEEPFAKE DETECTION IN SPEECH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4"/>
          <p:cNvSpPr/>
          <p:nvPr/>
        </p:nvSpPr>
        <p:spPr>
          <a:xfrm>
            <a:off x="841248" y="3063240"/>
            <a:ext cx="9875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 comparison of deep-learning architectures for real-vs-fake speech, with cross-dataset evaluation.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4"/>
          <p:cNvSpPr/>
          <p:nvPr/>
        </p:nvSpPr>
        <p:spPr>
          <a:xfrm>
            <a:off x="841248" y="4328021"/>
            <a:ext cx="7973238" cy="42012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aseline="30000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nd</a:t>
            </a: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Semester Deep Learning Project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4"/>
          <p:cNvSpPr txBox="1"/>
          <p:nvPr/>
        </p:nvSpPr>
        <p:spPr>
          <a:xfrm>
            <a:off x="822960" y="4715198"/>
            <a:ext cx="10207505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George Nazos  MTN2519     |     Konstantinos Kaimakis  MTN2508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MSc Artificial Intelligence  ·  NSCR Demokritos &amp; UNIPI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/>
          <p:nvPr/>
        </p:nvSpPr>
        <p:spPr>
          <a:xfrm>
            <a:off x="548640" y="566928"/>
            <a:ext cx="146304" cy="457200"/>
          </a:xfrm>
          <a:prstGeom prst="rect">
            <a:avLst/>
          </a:prstGeom>
          <a:solidFill>
            <a:srgbClr val="0E959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5"/>
          <p:cNvSpPr/>
          <p:nvPr/>
        </p:nvSpPr>
        <p:spPr>
          <a:xfrm>
            <a:off x="822960" y="310896"/>
            <a:ext cx="10515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9594"/>
              </a:buClr>
              <a:buSzPts val="1200"/>
              <a:buFont typeface="Trebuchet MS"/>
              <a:buNone/>
            </a:pPr>
            <a:r>
              <a:rPr b="1" lang="en-US" sz="1200">
                <a:solidFill>
                  <a:srgbClr val="0E9594"/>
                </a:solidFill>
                <a:latin typeface="Trebuchet MS"/>
                <a:ea typeface="Trebuchet MS"/>
                <a:cs typeface="Trebuchet MS"/>
                <a:sym typeface="Trebuchet MS"/>
              </a:rPr>
              <a:t>MOTIVATION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5"/>
          <p:cNvSpPr/>
          <p:nvPr/>
        </p:nvSpPr>
        <p:spPr>
          <a:xfrm>
            <a:off x="822960" y="566928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03A"/>
              </a:buClr>
              <a:buSzPts val="2800"/>
              <a:buFont typeface="Trebuchet MS"/>
              <a:buNone/>
            </a:pPr>
            <a:r>
              <a:rPr b="1" lang="en-US" sz="2800">
                <a:solidFill>
                  <a:srgbClr val="22303A"/>
                </a:solidFill>
                <a:latin typeface="Trebuchet MS"/>
                <a:ea typeface="Trebuchet MS"/>
                <a:cs typeface="Trebuchet MS"/>
                <a:sym typeface="Trebuchet MS"/>
              </a:rPr>
              <a:t>Why this problem?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5"/>
          <p:cNvSpPr/>
          <p:nvPr/>
        </p:nvSpPr>
        <p:spPr>
          <a:xfrm>
            <a:off x="822960" y="1554480"/>
            <a:ext cx="658368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2303A"/>
              </a:buClr>
              <a:buSzPts val="1600"/>
              <a:buFont typeface="Calibri"/>
              <a:buChar char="•"/>
            </a:pPr>
            <a:r>
              <a:rPr lang="en-US" sz="1600">
                <a:solidFill>
                  <a:srgbClr val="22303A"/>
                </a:solidFill>
                <a:latin typeface="Calibri"/>
                <a:ea typeface="Calibri"/>
                <a:cs typeface="Calibri"/>
                <a:sym typeface="Calibri"/>
              </a:rPr>
              <a:t>Synthetic speech is now near-indistinguishable from real, enabling fraud and disinformation.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22303A"/>
              </a:buClr>
              <a:buSzPts val="1600"/>
              <a:buFont typeface="Calibri"/>
              <a:buChar char="•"/>
            </a:pPr>
            <a:r>
              <a:rPr lang="en-US" sz="1600">
                <a:solidFill>
                  <a:srgbClr val="22303A"/>
                </a:solidFill>
                <a:latin typeface="Calibri"/>
                <a:ea typeface="Calibri"/>
                <a:cs typeface="Calibri"/>
                <a:sym typeface="Calibri"/>
              </a:rPr>
              <a:t>The hard part is not in-domain accuracy, it is generalising to unseen generators data.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22303A"/>
              </a:buClr>
              <a:buSzPts val="1600"/>
              <a:buFont typeface="Calibri"/>
              <a:buChar char="•"/>
            </a:pPr>
            <a:r>
              <a:rPr lang="en-US" sz="1600">
                <a:solidFill>
                  <a:srgbClr val="22303A"/>
                </a:solidFill>
                <a:latin typeface="Calibri"/>
                <a:ea typeface="Calibri"/>
                <a:cs typeface="Calibri"/>
                <a:sym typeface="Calibri"/>
              </a:rPr>
              <a:t>So we train on one data set (FoR) and test on a completely independent one (ITW).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22303A"/>
              </a:buClr>
              <a:buSzPts val="1600"/>
              <a:buFont typeface="Calibri"/>
              <a:buChar char="•"/>
            </a:pPr>
            <a:r>
              <a:rPr lang="en-US" sz="1600">
                <a:solidFill>
                  <a:srgbClr val="22303A"/>
                </a:solidFill>
                <a:latin typeface="Calibri"/>
                <a:ea typeface="Calibri"/>
                <a:cs typeface="Calibri"/>
                <a:sym typeface="Calibri"/>
              </a:rPr>
              <a:t>The test set is class-imbalanced, accuracy alone is misleading so catching fakes is what matters.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5"/>
          <p:cNvSpPr/>
          <p:nvPr/>
        </p:nvSpPr>
        <p:spPr>
          <a:xfrm>
            <a:off x="7818120" y="1828800"/>
            <a:ext cx="3200400" cy="1325880"/>
          </a:xfrm>
          <a:prstGeom prst="roundRect">
            <a:avLst>
              <a:gd fmla="val 5517" name="adj"/>
            </a:avLst>
          </a:prstGeom>
          <a:solidFill>
            <a:srgbClr val="F4F7F8"/>
          </a:solidFill>
          <a:ln cap="flat" cmpd="sng" w="12700">
            <a:solidFill>
              <a:srgbClr val="DDE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5"/>
          <p:cNvSpPr/>
          <p:nvPr/>
        </p:nvSpPr>
        <p:spPr>
          <a:xfrm>
            <a:off x="7818120" y="1938528"/>
            <a:ext cx="3200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9594"/>
              </a:buClr>
              <a:buSzPts val="3400"/>
              <a:buFont typeface="Trebuchet MS"/>
              <a:buNone/>
            </a:pPr>
            <a:r>
              <a:rPr b="1" lang="en-US" sz="3400">
                <a:solidFill>
                  <a:srgbClr val="0E9594"/>
                </a:solidFill>
                <a:latin typeface="Trebuchet MS"/>
                <a:ea typeface="Trebuchet MS"/>
                <a:cs typeface="Trebuchet MS"/>
                <a:sym typeface="Trebuchet MS"/>
              </a:rPr>
              <a:t>31,779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5"/>
          <p:cNvSpPr/>
          <p:nvPr/>
        </p:nvSpPr>
        <p:spPr>
          <a:xfrm>
            <a:off x="8001000" y="2670048"/>
            <a:ext cx="2834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B85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6B7B85"/>
                </a:solidFill>
                <a:latin typeface="Calibri"/>
                <a:ea typeface="Calibri"/>
                <a:cs typeface="Calibri"/>
                <a:sym typeface="Calibri"/>
              </a:rPr>
              <a:t>ITW test clips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5"/>
          <p:cNvSpPr/>
          <p:nvPr/>
        </p:nvSpPr>
        <p:spPr>
          <a:xfrm>
            <a:off x="7818120" y="3337560"/>
            <a:ext cx="3200400" cy="1325880"/>
          </a:xfrm>
          <a:prstGeom prst="roundRect">
            <a:avLst>
              <a:gd fmla="val 5517" name="adj"/>
            </a:avLst>
          </a:prstGeom>
          <a:solidFill>
            <a:srgbClr val="F4F7F8"/>
          </a:solidFill>
          <a:ln cap="flat" cmpd="sng" w="12700">
            <a:solidFill>
              <a:srgbClr val="DDE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5"/>
          <p:cNvSpPr/>
          <p:nvPr/>
        </p:nvSpPr>
        <p:spPr>
          <a:xfrm>
            <a:off x="7818120" y="3447288"/>
            <a:ext cx="3200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674F"/>
              </a:buClr>
              <a:buSzPts val="3400"/>
              <a:buFont typeface="Trebuchet MS"/>
              <a:buNone/>
            </a:pPr>
            <a:r>
              <a:rPr b="1" lang="en-US" sz="3400">
                <a:solidFill>
                  <a:srgbClr val="E8674F"/>
                </a:solidFill>
                <a:latin typeface="Trebuchet MS"/>
                <a:ea typeface="Trebuchet MS"/>
                <a:cs typeface="Trebuchet MS"/>
                <a:sym typeface="Trebuchet MS"/>
              </a:rPr>
              <a:t>63% / 37%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5"/>
          <p:cNvSpPr/>
          <p:nvPr/>
        </p:nvSpPr>
        <p:spPr>
          <a:xfrm>
            <a:off x="8001000" y="4178808"/>
            <a:ext cx="2834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B85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6B7B85"/>
                </a:solidFill>
                <a:latin typeface="Calibri"/>
                <a:ea typeface="Calibri"/>
                <a:cs typeface="Calibri"/>
                <a:sym typeface="Calibri"/>
              </a:rPr>
              <a:t>real / fake split (imbalanced)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5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B85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B85"/>
                </a:solidFill>
                <a:latin typeface="Calibri"/>
                <a:ea typeface="Calibri"/>
                <a:cs typeface="Calibri"/>
                <a:sym typeface="Calibri"/>
              </a:rPr>
              <a:t>Audio Deepfake Detection — DL project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5"/>
          <p:cNvSpPr/>
          <p:nvPr/>
        </p:nvSpPr>
        <p:spPr>
          <a:xfrm>
            <a:off x="11430000" y="6437376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B85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B85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"/>
          <p:cNvSpPr/>
          <p:nvPr/>
        </p:nvSpPr>
        <p:spPr>
          <a:xfrm>
            <a:off x="548640" y="566928"/>
            <a:ext cx="146304" cy="457200"/>
          </a:xfrm>
          <a:prstGeom prst="rect">
            <a:avLst/>
          </a:prstGeom>
          <a:solidFill>
            <a:srgbClr val="0E959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6"/>
          <p:cNvSpPr/>
          <p:nvPr/>
        </p:nvSpPr>
        <p:spPr>
          <a:xfrm>
            <a:off x="822960" y="310896"/>
            <a:ext cx="10515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9594"/>
              </a:buClr>
              <a:buSzPts val="1200"/>
              <a:buFont typeface="Trebuchet MS"/>
              <a:buNone/>
            </a:pPr>
            <a:r>
              <a:rPr b="1" lang="en-US" sz="1200">
                <a:solidFill>
                  <a:srgbClr val="0E9594"/>
                </a:solidFill>
                <a:latin typeface="Trebuchet MS"/>
                <a:ea typeface="Trebuchet MS"/>
                <a:cs typeface="Trebuchet MS"/>
                <a:sym typeface="Trebuchet MS"/>
              </a:rPr>
              <a:t>APPROACH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6"/>
          <p:cNvSpPr/>
          <p:nvPr/>
        </p:nvSpPr>
        <p:spPr>
          <a:xfrm>
            <a:off x="822960" y="566928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03A"/>
              </a:buClr>
              <a:buSzPts val="2800"/>
              <a:buFont typeface="Trebuchet MS"/>
              <a:buNone/>
            </a:pPr>
            <a:r>
              <a:rPr b="1" lang="en-US" sz="2800">
                <a:solidFill>
                  <a:srgbClr val="22303A"/>
                </a:solidFill>
                <a:latin typeface="Trebuchet MS"/>
                <a:ea typeface="Trebuchet MS"/>
                <a:cs typeface="Trebuchet MS"/>
                <a:sym typeface="Trebuchet MS"/>
              </a:rPr>
              <a:t>Four architecture families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6" name="Google Shape;46;p6"/>
          <p:cNvGraphicFramePr/>
          <p:nvPr/>
        </p:nvGraphicFramePr>
        <p:xfrm>
          <a:off x="822960" y="17373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{66E98FF3-A6CB-4A97-B635-24DF9CAF170E}</a:tableStyleId>
              </a:tblPr>
              <a:tblGrid>
                <a:gridCol w="2194550"/>
                <a:gridCol w="4389125"/>
                <a:gridCol w="3931925"/>
              </a:tblGrid>
              <a:tr h="64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Family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0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0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0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0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2B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Input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0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0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0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0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2B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Idea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0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0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0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0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2B3A"/>
                    </a:solidFill>
                  </a:tcPr>
                </a:tc>
              </a:tr>
              <a:tr h="64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303A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2230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MLP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0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0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0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0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303A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2230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hand-crafted features (MFCC, chroma, contrast, N_MFCC:20, N_FTT:128, HOP:256, N_MEL:128)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0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0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0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0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303A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2230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classical features + shallow classifier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0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0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0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0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4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303A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2230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CNN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0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0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0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0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303A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2230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mel-spectrogram (SR:16kHz, max_dur: 8.5s, N_FFT:1024 HOP:256, N_MELS:128)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0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0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0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0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303A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2230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learned 2-D spectral features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0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0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0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0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4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303A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2230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RNN / CRNN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0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0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0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0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303A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2230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mel-spectrogram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0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0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0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0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303A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2230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temporal modelling, with / without a CNN block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0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0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0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0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4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303A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2230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WavLM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0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0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0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0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303A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2230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raw waveform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0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0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0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0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303A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2230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self-supervised transformer with a classification head: frozen backbone vs fine-tune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0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0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0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0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7" name="Google Shape;47;p6"/>
          <p:cNvSpPr/>
          <p:nvPr/>
        </p:nvSpPr>
        <p:spPr>
          <a:xfrm>
            <a:off x="822960" y="521208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B85"/>
              </a:buClr>
              <a:buSzPts val="1300"/>
              <a:buFont typeface="Calibri"/>
              <a:buNone/>
            </a:pPr>
            <a:r>
              <a:rPr i="1" lang="en-US" sz="1300">
                <a:solidFill>
                  <a:srgbClr val="6B7B85"/>
                </a:solidFill>
                <a:latin typeface="Calibri"/>
                <a:ea typeface="Calibri"/>
                <a:cs typeface="Calibri"/>
                <a:sym typeface="Calibri"/>
              </a:rPr>
              <a:t>Families 1–3: focused one-axis sweeps (capacity, LR, regularisation).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B85"/>
              </a:buClr>
              <a:buSzPts val="1300"/>
              <a:buFont typeface="Calibri"/>
              <a:buNone/>
            </a:pPr>
            <a:r>
              <a:rPr i="1" lang="en-US" sz="1300">
                <a:solidFill>
                  <a:srgbClr val="6B7B85"/>
                </a:solidFill>
                <a:latin typeface="Calibri"/>
                <a:ea typeface="Calibri"/>
                <a:cs typeface="Calibri"/>
                <a:sym typeface="Calibri"/>
              </a:rPr>
              <a:t>Family 4: an analysis of how to use a pretrained backbone.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6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B85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B85"/>
                </a:solidFill>
                <a:latin typeface="Calibri"/>
                <a:ea typeface="Calibri"/>
                <a:cs typeface="Calibri"/>
                <a:sym typeface="Calibri"/>
              </a:rPr>
              <a:t>Audio Deepfake Detection — DL project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6"/>
          <p:cNvSpPr/>
          <p:nvPr/>
        </p:nvSpPr>
        <p:spPr>
          <a:xfrm>
            <a:off x="11430000" y="6437376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B85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B85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/>
          <p:nvPr/>
        </p:nvSpPr>
        <p:spPr>
          <a:xfrm>
            <a:off x="548640" y="566928"/>
            <a:ext cx="146304" cy="457200"/>
          </a:xfrm>
          <a:prstGeom prst="rect">
            <a:avLst/>
          </a:prstGeom>
          <a:solidFill>
            <a:srgbClr val="0E959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7"/>
          <p:cNvSpPr/>
          <p:nvPr/>
        </p:nvSpPr>
        <p:spPr>
          <a:xfrm>
            <a:off x="822960" y="310896"/>
            <a:ext cx="10515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9594"/>
              </a:buClr>
              <a:buSzPts val="1200"/>
              <a:buFont typeface="Trebuchet MS"/>
              <a:buNone/>
            </a:pPr>
            <a:r>
              <a:rPr b="1" lang="en-US" sz="1200">
                <a:solidFill>
                  <a:srgbClr val="0E9594"/>
                </a:solidFill>
                <a:latin typeface="Trebuchet MS"/>
                <a:ea typeface="Trebuchet MS"/>
                <a:cs typeface="Trebuchet MS"/>
                <a:sym typeface="Trebuchet MS"/>
              </a:rPr>
              <a:t>DATA &amp; EVALUATION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7"/>
          <p:cNvSpPr/>
          <p:nvPr/>
        </p:nvSpPr>
        <p:spPr>
          <a:xfrm>
            <a:off x="822960" y="566928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03A"/>
              </a:buClr>
              <a:buSzPts val="2800"/>
              <a:buFont typeface="Trebuchet MS"/>
              <a:buNone/>
            </a:pPr>
            <a:r>
              <a:rPr b="1" lang="en-US" sz="2800">
                <a:solidFill>
                  <a:srgbClr val="22303A"/>
                </a:solidFill>
                <a:latin typeface="Trebuchet MS"/>
                <a:ea typeface="Trebuchet MS"/>
                <a:cs typeface="Trebuchet MS"/>
                <a:sym typeface="Trebuchet MS"/>
              </a:rPr>
              <a:t>Cross-dataset evaluation, leakage control, metrics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7"/>
          <p:cNvSpPr/>
          <p:nvPr/>
        </p:nvSpPr>
        <p:spPr>
          <a:xfrm>
            <a:off x="822960" y="1645920"/>
            <a:ext cx="5212080" cy="1417320"/>
          </a:xfrm>
          <a:prstGeom prst="roundRect">
            <a:avLst>
              <a:gd fmla="val 4516" name="adj"/>
            </a:avLst>
          </a:prstGeom>
          <a:solidFill>
            <a:srgbClr val="F4F7F8"/>
          </a:solidFill>
          <a:ln cap="flat" cmpd="sng" w="12700">
            <a:solidFill>
              <a:srgbClr val="DDE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7"/>
          <p:cNvSpPr/>
          <p:nvPr/>
        </p:nvSpPr>
        <p:spPr>
          <a:xfrm>
            <a:off x="822960" y="1645920"/>
            <a:ext cx="109728" cy="1417320"/>
          </a:xfrm>
          <a:prstGeom prst="rect">
            <a:avLst/>
          </a:prstGeom>
          <a:solidFill>
            <a:srgbClr val="0E959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7"/>
          <p:cNvSpPr/>
          <p:nvPr/>
        </p:nvSpPr>
        <p:spPr>
          <a:xfrm>
            <a:off x="1097280" y="1783080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03A"/>
              </a:buClr>
              <a:buSzPts val="1500"/>
              <a:buFont typeface="Trebuchet MS"/>
              <a:buNone/>
            </a:pPr>
            <a:r>
              <a:rPr b="1" lang="en-US" sz="1500">
                <a:solidFill>
                  <a:srgbClr val="22303A"/>
                </a:solidFill>
                <a:latin typeface="Trebuchet MS"/>
                <a:ea typeface="Trebuchet MS"/>
                <a:cs typeface="Trebuchet MS"/>
                <a:sym typeface="Trebuchet MS"/>
              </a:rPr>
              <a:t>Datasets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7"/>
          <p:cNvSpPr/>
          <p:nvPr/>
        </p:nvSpPr>
        <p:spPr>
          <a:xfrm>
            <a:off x="1097280" y="2212848"/>
            <a:ext cx="47091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750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3A4750"/>
                </a:solidFill>
                <a:latin typeface="Calibri"/>
                <a:ea typeface="Calibri"/>
                <a:cs typeface="Calibri"/>
                <a:sym typeface="Calibri"/>
              </a:rPr>
              <a:t>FoR (for-norm) for train (53.868 samples) + validation (4.634 samples).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750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3A4750"/>
                </a:solidFill>
                <a:latin typeface="Calibri"/>
                <a:ea typeface="Calibri"/>
                <a:cs typeface="Calibri"/>
                <a:sym typeface="Calibri"/>
              </a:rPr>
              <a:t>In-the-Wild (31.779 samples) for test only, so results measure true generalisation.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7"/>
          <p:cNvSpPr/>
          <p:nvPr/>
        </p:nvSpPr>
        <p:spPr>
          <a:xfrm>
            <a:off x="6309360" y="1645920"/>
            <a:ext cx="5029200" cy="1417320"/>
          </a:xfrm>
          <a:prstGeom prst="roundRect">
            <a:avLst>
              <a:gd fmla="val 4516" name="adj"/>
            </a:avLst>
          </a:prstGeom>
          <a:solidFill>
            <a:srgbClr val="F4F7F8"/>
          </a:solidFill>
          <a:ln cap="flat" cmpd="sng" w="12700">
            <a:solidFill>
              <a:srgbClr val="DDE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7"/>
          <p:cNvSpPr/>
          <p:nvPr/>
        </p:nvSpPr>
        <p:spPr>
          <a:xfrm>
            <a:off x="6309360" y="1645920"/>
            <a:ext cx="109728" cy="1417320"/>
          </a:xfrm>
          <a:prstGeom prst="rect">
            <a:avLst/>
          </a:prstGeom>
          <a:solidFill>
            <a:srgbClr val="E8674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7"/>
          <p:cNvSpPr/>
          <p:nvPr/>
        </p:nvSpPr>
        <p:spPr>
          <a:xfrm>
            <a:off x="6583680" y="178308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03A"/>
              </a:buClr>
              <a:buSzPts val="1500"/>
              <a:buFont typeface="Trebuchet MS"/>
              <a:buNone/>
            </a:pPr>
            <a:r>
              <a:rPr b="1" lang="en-US" sz="1500">
                <a:solidFill>
                  <a:srgbClr val="22303A"/>
                </a:solidFill>
                <a:latin typeface="Trebuchet MS"/>
                <a:ea typeface="Trebuchet MS"/>
                <a:cs typeface="Trebuchet MS"/>
                <a:sym typeface="Trebuchet MS"/>
              </a:rPr>
              <a:t>Class imbalance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7"/>
          <p:cNvSpPr/>
          <p:nvPr/>
        </p:nvSpPr>
        <p:spPr>
          <a:xfrm>
            <a:off x="6583680" y="2212848"/>
            <a:ext cx="45262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750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3A4750"/>
                </a:solidFill>
                <a:latin typeface="Calibri"/>
                <a:ea typeface="Calibri"/>
                <a:cs typeface="Calibri"/>
                <a:sym typeface="Calibri"/>
              </a:rPr>
              <a:t>ITW is 63% real / 37% fake. We report per-class precision/recall/F1 and macro-F1, and treat fake-class recall as the operational metric.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7"/>
          <p:cNvSpPr/>
          <p:nvPr/>
        </p:nvSpPr>
        <p:spPr>
          <a:xfrm>
            <a:off x="822960" y="3246120"/>
            <a:ext cx="5212080" cy="1417320"/>
          </a:xfrm>
          <a:prstGeom prst="roundRect">
            <a:avLst>
              <a:gd fmla="val 4516" name="adj"/>
            </a:avLst>
          </a:prstGeom>
          <a:solidFill>
            <a:srgbClr val="F4F7F8"/>
          </a:solidFill>
          <a:ln cap="flat" cmpd="sng" w="12700">
            <a:solidFill>
              <a:srgbClr val="DDE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7"/>
          <p:cNvSpPr/>
          <p:nvPr/>
        </p:nvSpPr>
        <p:spPr>
          <a:xfrm>
            <a:off x="822960" y="3246120"/>
            <a:ext cx="109728" cy="1417320"/>
          </a:xfrm>
          <a:prstGeom prst="rect">
            <a:avLst/>
          </a:prstGeom>
          <a:solidFill>
            <a:srgbClr val="3E7CB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7"/>
          <p:cNvSpPr/>
          <p:nvPr/>
        </p:nvSpPr>
        <p:spPr>
          <a:xfrm>
            <a:off x="1097280" y="3383280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03A"/>
              </a:buClr>
              <a:buSzPts val="1500"/>
              <a:buFont typeface="Trebuchet MS"/>
              <a:buNone/>
            </a:pPr>
            <a:r>
              <a:rPr b="1" lang="en-US" sz="1500">
                <a:solidFill>
                  <a:srgbClr val="22303A"/>
                </a:solidFill>
                <a:latin typeface="Trebuchet MS"/>
                <a:ea typeface="Trebuchet MS"/>
                <a:cs typeface="Trebuchet MS"/>
                <a:sym typeface="Trebuchet MS"/>
              </a:rPr>
              <a:t>Leakage control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7"/>
          <p:cNvSpPr/>
          <p:nvPr/>
        </p:nvSpPr>
        <p:spPr>
          <a:xfrm>
            <a:off x="1097280" y="3813048"/>
            <a:ext cx="47091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750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3A4750"/>
                </a:solidFill>
                <a:latin typeface="Calibri"/>
                <a:ea typeface="Calibri"/>
                <a:cs typeface="Calibri"/>
                <a:sym typeface="Calibri"/>
              </a:rPr>
              <a:t>16 kHz mono, fixed-duration crop/pad. Feature scalers fit on clean training data only. For the WavLM fine tuning, noise augmentation was applied to the train split only.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7"/>
          <p:cNvSpPr/>
          <p:nvPr/>
        </p:nvSpPr>
        <p:spPr>
          <a:xfrm>
            <a:off x="6309360" y="3246120"/>
            <a:ext cx="5029200" cy="1417320"/>
          </a:xfrm>
          <a:prstGeom prst="roundRect">
            <a:avLst>
              <a:gd fmla="val 4516" name="adj"/>
            </a:avLst>
          </a:prstGeom>
          <a:solidFill>
            <a:srgbClr val="F4F7F8"/>
          </a:solidFill>
          <a:ln cap="flat" cmpd="sng" w="12700">
            <a:solidFill>
              <a:srgbClr val="DDE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7"/>
          <p:cNvSpPr/>
          <p:nvPr/>
        </p:nvSpPr>
        <p:spPr>
          <a:xfrm>
            <a:off x="6309360" y="3246120"/>
            <a:ext cx="109728" cy="1417320"/>
          </a:xfrm>
          <a:prstGeom prst="rect">
            <a:avLst/>
          </a:prstGeom>
          <a:solidFill>
            <a:srgbClr val="C9971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7"/>
          <p:cNvSpPr/>
          <p:nvPr/>
        </p:nvSpPr>
        <p:spPr>
          <a:xfrm>
            <a:off x="6583680" y="338328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03A"/>
              </a:buClr>
              <a:buSzPts val="1500"/>
              <a:buFont typeface="Trebuchet MS"/>
              <a:buNone/>
            </a:pPr>
            <a:r>
              <a:rPr b="1" lang="en-US" sz="1500">
                <a:solidFill>
                  <a:srgbClr val="22303A"/>
                </a:solidFill>
                <a:latin typeface="Trebuchet MS"/>
                <a:ea typeface="Trebuchet MS"/>
                <a:cs typeface="Trebuchet MS"/>
                <a:sym typeface="Trebuchet MS"/>
              </a:rPr>
              <a:t>Metrics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7"/>
          <p:cNvSpPr/>
          <p:nvPr/>
        </p:nvSpPr>
        <p:spPr>
          <a:xfrm>
            <a:off x="6583680" y="3813048"/>
            <a:ext cx="45262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750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3A4750"/>
                </a:solidFill>
                <a:latin typeface="Calibri"/>
                <a:ea typeface="Calibri"/>
                <a:cs typeface="Calibri"/>
                <a:sym typeface="Calibri"/>
              </a:rPr>
              <a:t>AUC-ROC (primary), accuracy, macro-F1, per-class P/R/F1.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7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B85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B85"/>
                </a:solidFill>
                <a:latin typeface="Calibri"/>
                <a:ea typeface="Calibri"/>
                <a:cs typeface="Calibri"/>
                <a:sym typeface="Calibri"/>
              </a:rPr>
              <a:t>Audio Deepfake Detection — DL project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7"/>
          <p:cNvSpPr/>
          <p:nvPr/>
        </p:nvSpPr>
        <p:spPr>
          <a:xfrm>
            <a:off x="11430000" y="6437376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B85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B85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8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2230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8"/>
          <p:cNvSpPr/>
          <p:nvPr/>
        </p:nvSpPr>
        <p:spPr>
          <a:xfrm>
            <a:off x="548640" y="0"/>
            <a:ext cx="45720" cy="6858000"/>
          </a:xfrm>
          <a:prstGeom prst="rect">
            <a:avLst/>
          </a:prstGeom>
          <a:solidFill>
            <a:srgbClr val="0E959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8"/>
          <p:cNvSpPr txBox="1"/>
          <p:nvPr/>
        </p:nvSpPr>
        <p:spPr>
          <a:xfrm>
            <a:off x="685800" y="310896"/>
            <a:ext cx="10515600" cy="2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0E9594"/>
                </a:solidFill>
                <a:latin typeface="Calibri"/>
                <a:ea typeface="Calibri"/>
                <a:cs typeface="Calibri"/>
                <a:sym typeface="Calibri"/>
              </a:rPr>
              <a:t>ARCHITECTURE · SUMMARY TABLE</a:t>
            </a:r>
            <a:endParaRPr/>
          </a:p>
        </p:txBody>
      </p:sp>
      <p:sp>
        <p:nvSpPr>
          <p:cNvPr id="83" name="Google Shape;83;p8"/>
          <p:cNvSpPr txBox="1"/>
          <p:nvPr/>
        </p:nvSpPr>
        <p:spPr>
          <a:xfrm>
            <a:off x="685800" y="548000"/>
            <a:ext cx="1140620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22303A"/>
                </a:solidFill>
                <a:latin typeface="Calibri"/>
                <a:ea typeface="Calibri"/>
                <a:cs typeface="Calibri"/>
                <a:sym typeface="Calibri"/>
              </a:rPr>
              <a:t>Baseline configurations</a:t>
            </a:r>
            <a:endParaRPr b="1" sz="2000">
              <a:solidFill>
                <a:srgbClr val="22303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8"/>
          <p:cNvSpPr txBox="1"/>
          <p:nvPr/>
        </p:nvSpPr>
        <p:spPr>
          <a:xfrm>
            <a:off x="3402210" y="5655382"/>
            <a:ext cx="5592256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22303A"/>
                </a:solidFill>
                <a:latin typeface="Calibri"/>
                <a:ea typeface="Calibri"/>
                <a:cs typeface="Calibri"/>
                <a:sym typeface="Calibri"/>
              </a:rPr>
              <a:t>The MLP, CNN, RNN, and C-RNN Baseline Network Architectures</a:t>
            </a:r>
            <a:endParaRPr/>
          </a:p>
        </p:txBody>
      </p:sp>
      <p:graphicFrame>
        <p:nvGraphicFramePr>
          <p:cNvPr id="85" name="Google Shape;85;p8"/>
          <p:cNvGraphicFramePr/>
          <p:nvPr/>
        </p:nvGraphicFramePr>
        <p:xfrm>
          <a:off x="770238" y="113421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{39C8F4CB-DBC8-4125-8BB8-B8073DC68C89}</a:tableStyleId>
              </a:tblPr>
              <a:tblGrid>
                <a:gridCol w="2491950"/>
                <a:gridCol w="8364250"/>
              </a:tblGrid>
              <a:tr h="530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Models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230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Configuration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2303A"/>
                    </a:solidFill>
                  </a:tcPr>
                </a:tc>
              </a:tr>
              <a:tr h="654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22303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MLP baseline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>
                          <a:solidFill>
                            <a:srgbClr val="22303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 ×</a:t>
                      </a:r>
                      <a:r>
                        <a:rPr b="0" lang="en-US" sz="1050">
                          <a:solidFill>
                            <a:srgbClr val="22303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{Linear(256/128/64)  –  BN  –  ReLU  –  Dropout(0.5)}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>
                          <a:solidFill>
                            <a:srgbClr val="22303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 ×</a:t>
                      </a:r>
                      <a:r>
                        <a:rPr b="0" lang="en-US" sz="1050">
                          <a:solidFill>
                            <a:srgbClr val="22303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{Linear(1)  –  Sigmoid}</a:t>
                      </a:r>
                      <a:endParaRPr/>
                    </a:p>
                  </a:txBody>
                  <a:tcPr marT="55000" marB="55000" marR="100000" marL="100000" anchor="ctr">
                    <a:solidFill>
                      <a:srgbClr val="FFFFFF"/>
                    </a:solidFill>
                  </a:tcPr>
                </a:tc>
              </a:tr>
              <a:tr h="914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22303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CNN baseline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>
                          <a:solidFill>
                            <a:srgbClr val="22303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 ×</a:t>
                      </a:r>
                      <a:r>
                        <a:rPr b="0" lang="en-US" sz="1050">
                          <a:solidFill>
                            <a:srgbClr val="22303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{Conv(32/64/128, k=3, p=1)  –  ReLU  –  AvgPool2d(k=2)  –  Dropout(0.5)}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>
                          <a:solidFill>
                            <a:srgbClr val="22303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 ×</a:t>
                      </a:r>
                      <a:r>
                        <a:rPr b="0" lang="en-US" sz="1050">
                          <a:solidFill>
                            <a:srgbClr val="22303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{Linear(128→256)  –  ReLU  –  Dropout(0.5)}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>
                          <a:solidFill>
                            <a:srgbClr val="22303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 ×</a:t>
                      </a:r>
                      <a:r>
                        <a:rPr b="0" lang="en-US" sz="1050">
                          <a:solidFill>
                            <a:srgbClr val="22303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{Linear(256→1)}</a:t>
                      </a:r>
                      <a:endParaRPr/>
                    </a:p>
                  </a:txBody>
                  <a:tcPr marT="55000" marB="55000" marR="100000" marL="100000" anchor="ctr">
                    <a:solidFill>
                      <a:srgbClr val="FFFFFF"/>
                    </a:solidFill>
                  </a:tcPr>
                </a:tc>
              </a:tr>
              <a:tr h="914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22303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RNN baseline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>
                          <a:solidFill>
                            <a:srgbClr val="22303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 ×</a:t>
                      </a:r>
                      <a:r>
                        <a:rPr b="0" lang="en-US" sz="1050">
                          <a:solidFill>
                            <a:srgbClr val="22303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{BiLSTM(128/64, bidirectional)  –  ReLU  –  Dropout(0.5)}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>
                          <a:solidFill>
                            <a:srgbClr val="22303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 ×</a:t>
                      </a:r>
                      <a:r>
                        <a:rPr b="0" lang="en-US" sz="1050">
                          <a:solidFill>
                            <a:srgbClr val="22303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{Linear(128→256)  –  ReLU  –  Dropout(0.5)}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>
                          <a:solidFill>
                            <a:srgbClr val="22303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 ×</a:t>
                      </a:r>
                      <a:r>
                        <a:rPr b="0" lang="en-US" sz="1050">
                          <a:solidFill>
                            <a:srgbClr val="22303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{Linear(256→1)}</a:t>
                      </a:r>
                      <a:endParaRPr/>
                    </a:p>
                  </a:txBody>
                  <a:tcPr marT="55000" marB="55000" marR="100000" marL="100000" anchor="ctr">
                    <a:solidFill>
                      <a:srgbClr val="FFFFFF"/>
                    </a:solidFill>
                  </a:tcPr>
                </a:tc>
              </a:tr>
              <a:tr h="1174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22303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C-RNN baseline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>
                          <a:solidFill>
                            <a:srgbClr val="22303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 ×</a:t>
                      </a:r>
                      <a:r>
                        <a:rPr b="0" lang="en-US" sz="1050">
                          <a:solidFill>
                            <a:srgbClr val="22303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{Conv(32/64/128, k=3, p=1)  –  ReLU  –  AvgPool2d(k=2)  –  Dropout(0.5)}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>
                          <a:solidFill>
                            <a:srgbClr val="22303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 ×</a:t>
                      </a:r>
                      <a:r>
                        <a:rPr b="0" lang="en-US" sz="1050">
                          <a:solidFill>
                            <a:srgbClr val="22303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{BiLSTM(128/64, bidirectional)  –  ReLU  –  Dropout(0.5)}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>
                          <a:solidFill>
                            <a:srgbClr val="22303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 ×</a:t>
                      </a:r>
                      <a:r>
                        <a:rPr b="0" lang="en-US" sz="1050">
                          <a:solidFill>
                            <a:srgbClr val="22303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{Linear(128→256)  –  ReLU  –  Dropout(0.5)}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>
                          <a:solidFill>
                            <a:srgbClr val="22303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 ×</a:t>
                      </a:r>
                      <a:r>
                        <a:rPr b="0" lang="en-US" sz="1050">
                          <a:solidFill>
                            <a:srgbClr val="22303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{Linear(256→1)}</a:t>
                      </a:r>
                      <a:endParaRPr/>
                    </a:p>
                  </a:txBody>
                  <a:tcPr marT="55000" marB="55000" marR="100000" marL="100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6" name="Google Shape;86;p8"/>
          <p:cNvSpPr txBox="1"/>
          <p:nvPr/>
        </p:nvSpPr>
        <p:spPr>
          <a:xfrm>
            <a:off x="685800" y="6940000"/>
            <a:ext cx="114062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>
                <a:solidFill>
                  <a:srgbClr val="5C6B73"/>
                </a:solidFill>
                <a:latin typeface="Calibri"/>
                <a:ea typeface="Calibri"/>
                <a:cs typeface="Calibri"/>
                <a:sym typeface="Calibri"/>
              </a:rPr>
              <a:t>AP = AvgPool2d(k=2, s=2)   ·   BN = BatchNorm1d   ·   BiLSTM hidden halves each layer (128→64)   ·   bidirectional output = 2 × hidden</a:t>
            </a:r>
            <a:endParaRPr/>
          </a:p>
        </p:txBody>
      </p:sp>
      <p:sp>
        <p:nvSpPr>
          <p:cNvPr id="87" name="Google Shape;87;p8"/>
          <p:cNvSpPr txBox="1"/>
          <p:nvPr/>
        </p:nvSpPr>
        <p:spPr>
          <a:xfrm>
            <a:off x="685800" y="6578000"/>
            <a:ext cx="7000000" cy="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6B7B85"/>
                </a:solidFill>
                <a:latin typeface="Calibri"/>
                <a:ea typeface="Calibri"/>
                <a:cs typeface="Calibri"/>
                <a:sym typeface="Calibri"/>
              </a:rPr>
              <a:t>Audio Deepfake Detection — DL project</a:t>
            </a:r>
            <a:endParaRPr/>
          </a:p>
        </p:txBody>
      </p:sp>
      <p:sp>
        <p:nvSpPr>
          <p:cNvPr id="88" name="Google Shape;88;p8"/>
          <p:cNvSpPr txBox="1"/>
          <p:nvPr/>
        </p:nvSpPr>
        <p:spPr>
          <a:xfrm>
            <a:off x="11542000" y="6578000"/>
            <a:ext cx="548640" cy="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6B7B85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9"/>
          <p:cNvSpPr/>
          <p:nvPr/>
        </p:nvSpPr>
        <p:spPr>
          <a:xfrm>
            <a:off x="548640" y="566928"/>
            <a:ext cx="146304" cy="457200"/>
          </a:xfrm>
          <a:prstGeom prst="rect">
            <a:avLst/>
          </a:prstGeom>
          <a:solidFill>
            <a:srgbClr val="0E959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9"/>
          <p:cNvSpPr/>
          <p:nvPr/>
        </p:nvSpPr>
        <p:spPr>
          <a:xfrm>
            <a:off x="822960" y="310896"/>
            <a:ext cx="10515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9594"/>
              </a:buClr>
              <a:buSzPts val="1200"/>
              <a:buFont typeface="Trebuchet MS"/>
              <a:buNone/>
            </a:pPr>
            <a:r>
              <a:rPr b="1" lang="en-US" sz="1200">
                <a:solidFill>
                  <a:srgbClr val="0E9594"/>
                </a:solidFill>
                <a:latin typeface="Trebuchet MS"/>
                <a:ea typeface="Trebuchet MS"/>
                <a:cs typeface="Trebuchet MS"/>
                <a:sym typeface="Trebuchet MS"/>
              </a:rPr>
              <a:t>ARCHITECTURE 1 · MLP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9"/>
          <p:cNvSpPr/>
          <p:nvPr/>
        </p:nvSpPr>
        <p:spPr>
          <a:xfrm>
            <a:off x="822960" y="566928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03A"/>
              </a:buClr>
              <a:buSzPts val="2800"/>
              <a:buFont typeface="Trebuchet MS"/>
              <a:buNone/>
            </a:pPr>
            <a:r>
              <a:rPr b="1" lang="en-US" sz="2800">
                <a:solidFill>
                  <a:srgbClr val="22303A"/>
                </a:solidFill>
                <a:latin typeface="Trebuchet MS"/>
                <a:ea typeface="Trebuchet MS"/>
                <a:cs typeface="Trebuchet MS"/>
                <a:sym typeface="Trebuchet MS"/>
              </a:rPr>
              <a:t>Hand-crafted features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"/>
          <p:cNvSpPr/>
          <p:nvPr/>
        </p:nvSpPr>
        <p:spPr>
          <a:xfrm>
            <a:off x="8321040" y="1691640"/>
            <a:ext cx="3413455" cy="4206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2303A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22303A"/>
                </a:solidFill>
                <a:latin typeface="Calibri"/>
                <a:ea typeface="Calibri"/>
                <a:cs typeface="Calibri"/>
                <a:sym typeface="Calibri"/>
              </a:rPr>
              <a:t>Best AUC ≈ 0.79 above chance but the weakest learned model.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22303A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22303A"/>
                </a:solidFill>
                <a:latin typeface="Calibri"/>
                <a:ea typeface="Calibri"/>
                <a:cs typeface="Calibri"/>
                <a:sym typeface="Calibri"/>
              </a:rPr>
              <a:t>More capacity hurts: wide/deep nets overfit FoR and transfer worse.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22303A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22303A"/>
                </a:solidFill>
                <a:latin typeface="Calibri"/>
                <a:ea typeface="Calibri"/>
                <a:cs typeface="Calibri"/>
                <a:sym typeface="Calibri"/>
              </a:rPr>
              <a:t>Learning rate: 1e-3 wins on this low-dim feature space.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22303A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22303A"/>
                </a:solidFill>
                <a:latin typeface="Calibri"/>
                <a:ea typeface="Calibri"/>
                <a:cs typeface="Calibri"/>
                <a:sym typeface="Calibri"/>
              </a:rPr>
              <a:t>The ceiling is the features, not the classifier.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0E9594"/>
                </a:solidFill>
                <a:latin typeface="Calibri"/>
                <a:ea typeface="Calibri"/>
                <a:cs typeface="Calibri"/>
                <a:sym typeface="Calibri"/>
              </a:rPr>
              <a:t>Baseline config</a:t>
            </a:r>
            <a:endParaRPr b="1" sz="1050">
              <a:solidFill>
                <a:srgbClr val="0E959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5C6B73"/>
                </a:solidFill>
                <a:latin typeface="Calibri"/>
                <a:ea typeface="Calibri"/>
                <a:cs typeface="Calibri"/>
                <a:sym typeface="Calibri"/>
              </a:rPr>
              <a:t>Hidden layers: </a:t>
            </a:r>
            <a:r>
              <a:rPr lang="en-US" sz="1050">
                <a:solidFill>
                  <a:srgbClr val="22303A"/>
                </a:solidFill>
                <a:latin typeface="Calibri"/>
                <a:ea typeface="Calibri"/>
                <a:cs typeface="Calibri"/>
                <a:sym typeface="Calibri"/>
              </a:rPr>
              <a:t>[256, 128, 64]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5C6B73"/>
                </a:solidFill>
                <a:latin typeface="Calibri"/>
                <a:ea typeface="Calibri"/>
                <a:cs typeface="Calibri"/>
                <a:sym typeface="Calibri"/>
              </a:rPr>
              <a:t>Learning rate: </a:t>
            </a:r>
            <a:r>
              <a:rPr lang="en-US" sz="1050">
                <a:solidFill>
                  <a:srgbClr val="22303A"/>
                </a:solidFill>
                <a:latin typeface="Calibri"/>
                <a:ea typeface="Calibri"/>
                <a:cs typeface="Calibri"/>
                <a:sym typeface="Calibri"/>
              </a:rPr>
              <a:t>5e-4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5C6B73"/>
                </a:solidFill>
                <a:latin typeface="Calibri"/>
                <a:ea typeface="Calibri"/>
                <a:cs typeface="Calibri"/>
                <a:sym typeface="Calibri"/>
              </a:rPr>
              <a:t>Dropout / wd: </a:t>
            </a:r>
            <a:r>
              <a:rPr lang="en-US" sz="1050">
                <a:solidFill>
                  <a:srgbClr val="22303A"/>
                </a:solidFill>
                <a:latin typeface="Calibri"/>
                <a:ea typeface="Calibri"/>
                <a:cs typeface="Calibri"/>
                <a:sym typeface="Calibri"/>
              </a:rPr>
              <a:t>0.5 / 1e-4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0E9594"/>
                </a:solidFill>
                <a:latin typeface="Calibri"/>
                <a:ea typeface="Calibri"/>
                <a:cs typeface="Calibri"/>
                <a:sym typeface="Calibri"/>
              </a:rPr>
              <a:t>AUC 0.769  |  fake-recall 12%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50">
              <a:solidFill>
                <a:srgbClr val="0E959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C9971B"/>
                </a:solidFill>
                <a:latin typeface="Calibri"/>
                <a:ea typeface="Calibri"/>
                <a:cs typeface="Calibri"/>
                <a:sym typeface="Calibri"/>
              </a:rPr>
              <a:t>Best config</a:t>
            </a:r>
            <a:endParaRPr b="1" sz="1050">
              <a:solidFill>
                <a:srgbClr val="C9971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5C6B73"/>
                </a:solidFill>
                <a:latin typeface="Calibri"/>
                <a:ea typeface="Calibri"/>
                <a:cs typeface="Calibri"/>
                <a:sym typeface="Calibri"/>
              </a:rPr>
              <a:t>Hidden layers: </a:t>
            </a:r>
            <a:r>
              <a:rPr lang="en-US" sz="1050">
                <a:solidFill>
                  <a:srgbClr val="22303A"/>
                </a:solidFill>
                <a:latin typeface="Calibri"/>
                <a:ea typeface="Calibri"/>
                <a:cs typeface="Calibri"/>
                <a:sym typeface="Calibri"/>
              </a:rPr>
              <a:t>[256, 128, 64]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5C6B73"/>
                </a:solidFill>
                <a:latin typeface="Calibri"/>
                <a:ea typeface="Calibri"/>
                <a:cs typeface="Calibri"/>
                <a:sym typeface="Calibri"/>
              </a:rPr>
              <a:t>Learning rate: </a:t>
            </a:r>
            <a:r>
              <a:rPr b="1" lang="en-US" sz="1050">
                <a:solidFill>
                  <a:srgbClr val="22303A"/>
                </a:solidFill>
                <a:latin typeface="Calibri"/>
                <a:ea typeface="Calibri"/>
                <a:cs typeface="Calibri"/>
                <a:sym typeface="Calibri"/>
              </a:rPr>
              <a:t>1e-3</a:t>
            </a:r>
            <a:endParaRPr b="1" sz="1050">
              <a:solidFill>
                <a:srgbClr val="22303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5C6B73"/>
                </a:solidFill>
                <a:latin typeface="Calibri"/>
                <a:ea typeface="Calibri"/>
                <a:cs typeface="Calibri"/>
                <a:sym typeface="Calibri"/>
              </a:rPr>
              <a:t>Dropout / wd: </a:t>
            </a:r>
            <a:r>
              <a:rPr lang="en-US" sz="1050">
                <a:solidFill>
                  <a:srgbClr val="22303A"/>
                </a:solidFill>
                <a:latin typeface="Calibri"/>
                <a:ea typeface="Calibri"/>
                <a:cs typeface="Calibri"/>
                <a:sym typeface="Calibri"/>
              </a:rPr>
              <a:t>0.5 / 1e-4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C9971B"/>
                </a:solidFill>
                <a:latin typeface="Calibri"/>
                <a:ea typeface="Calibri"/>
                <a:cs typeface="Calibri"/>
                <a:sym typeface="Calibri"/>
              </a:rPr>
              <a:t>AUC 0.786  |  fake-recall 17%</a:t>
            </a: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B85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B85"/>
                </a:solidFill>
                <a:latin typeface="Calibri"/>
                <a:ea typeface="Calibri"/>
                <a:cs typeface="Calibri"/>
                <a:sym typeface="Calibri"/>
              </a:rPr>
              <a:t>Audio Deepfake Detection — DL project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9"/>
          <p:cNvSpPr/>
          <p:nvPr/>
        </p:nvSpPr>
        <p:spPr>
          <a:xfrm>
            <a:off x="11430000" y="6437376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B85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B85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fig_mlp_hparam.png" id="100" name="Google Shape;10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3458" y="1435608"/>
            <a:ext cx="7825563" cy="42062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0"/>
          <p:cNvSpPr/>
          <p:nvPr/>
        </p:nvSpPr>
        <p:spPr>
          <a:xfrm>
            <a:off x="548640" y="566928"/>
            <a:ext cx="146304" cy="457200"/>
          </a:xfrm>
          <a:prstGeom prst="rect">
            <a:avLst/>
          </a:prstGeom>
          <a:solidFill>
            <a:srgbClr val="0E959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0"/>
          <p:cNvSpPr/>
          <p:nvPr/>
        </p:nvSpPr>
        <p:spPr>
          <a:xfrm>
            <a:off x="822960" y="310896"/>
            <a:ext cx="10515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9594"/>
              </a:buClr>
              <a:buSzPts val="1200"/>
              <a:buFont typeface="Trebuchet MS"/>
              <a:buNone/>
            </a:pPr>
            <a:r>
              <a:rPr b="1" lang="en-US" sz="1200">
                <a:solidFill>
                  <a:srgbClr val="0E9594"/>
                </a:solidFill>
                <a:latin typeface="Trebuchet MS"/>
                <a:ea typeface="Trebuchet MS"/>
                <a:cs typeface="Trebuchet MS"/>
                <a:sym typeface="Trebuchet MS"/>
              </a:rPr>
              <a:t>ARCHITECTURE 2 · CNN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0"/>
          <p:cNvSpPr/>
          <p:nvPr/>
        </p:nvSpPr>
        <p:spPr>
          <a:xfrm>
            <a:off x="822960" y="566928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03A"/>
              </a:buClr>
              <a:buSzPts val="2800"/>
              <a:buFont typeface="Trebuchet MS"/>
              <a:buNone/>
            </a:pPr>
            <a:r>
              <a:rPr b="1" lang="en-US" sz="2800">
                <a:solidFill>
                  <a:srgbClr val="22303A"/>
                </a:solidFill>
                <a:latin typeface="Trebuchet MS"/>
                <a:ea typeface="Trebuchet MS"/>
                <a:cs typeface="Trebuchet MS"/>
                <a:sym typeface="Trebuchet MS"/>
              </a:rPr>
              <a:t>Learned spectral features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0"/>
          <p:cNvSpPr/>
          <p:nvPr/>
        </p:nvSpPr>
        <p:spPr>
          <a:xfrm>
            <a:off x="8321040" y="1691640"/>
            <a:ext cx="3413455" cy="4206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2303A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22303A"/>
                </a:solidFill>
                <a:latin typeface="Calibri"/>
                <a:ea typeface="Calibri"/>
                <a:cs typeface="Calibri"/>
                <a:sym typeface="Calibri"/>
              </a:rPr>
              <a:t>Best AUC ≈ 0.87 / acc ≈ 0.83, and the best fake recall ≈ 72%.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22303A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22303A"/>
                </a:solidFill>
                <a:latin typeface="Calibri"/>
                <a:ea typeface="Calibri"/>
                <a:cs typeface="Calibri"/>
                <a:sym typeface="Calibri"/>
              </a:rPr>
              <a:t>Depth sweet spot at 3 blocks; 2 collapses, 4 overfits.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22303A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22303A"/>
                </a:solidFill>
                <a:latin typeface="Calibri"/>
                <a:ea typeface="Calibri"/>
                <a:cs typeface="Calibri"/>
                <a:sym typeface="Calibri"/>
              </a:rPr>
              <a:t>Width: 32 channels ideal; 64 adds nothing.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0E9594"/>
                </a:solidFill>
                <a:latin typeface="Calibri"/>
                <a:ea typeface="Calibri"/>
                <a:cs typeface="Calibri"/>
                <a:sym typeface="Calibri"/>
              </a:rPr>
              <a:t>Baseline config</a:t>
            </a:r>
            <a:endParaRPr b="1" sz="1050">
              <a:solidFill>
                <a:srgbClr val="0E959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5C6B73"/>
                </a:solidFill>
                <a:latin typeface="Calibri"/>
                <a:ea typeface="Calibri"/>
                <a:cs typeface="Calibri"/>
                <a:sym typeface="Calibri"/>
              </a:rPr>
              <a:t>Conv depth / ch: </a:t>
            </a:r>
            <a:r>
              <a:rPr lang="en-US" sz="1050">
                <a:solidFill>
                  <a:srgbClr val="22303A"/>
                </a:solidFill>
                <a:latin typeface="Calibri"/>
                <a:ea typeface="Calibri"/>
                <a:cs typeface="Calibri"/>
                <a:sym typeface="Calibri"/>
              </a:rPr>
              <a:t>3 blocks / 32 ch</a:t>
            </a:r>
            <a:endParaRPr sz="1050">
              <a:solidFill>
                <a:srgbClr val="22303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5C6B73"/>
                </a:solidFill>
                <a:latin typeface="Calibri"/>
                <a:ea typeface="Calibri"/>
                <a:cs typeface="Calibri"/>
                <a:sym typeface="Calibri"/>
              </a:rPr>
              <a:t>Learning rate: </a:t>
            </a:r>
            <a:r>
              <a:rPr lang="en-US" sz="1050">
                <a:solidFill>
                  <a:srgbClr val="22303A"/>
                </a:solidFill>
                <a:latin typeface="Calibri"/>
                <a:ea typeface="Calibri"/>
                <a:cs typeface="Calibri"/>
                <a:sym typeface="Calibri"/>
              </a:rPr>
              <a:t>5e-4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5C6B73"/>
                </a:solidFill>
                <a:latin typeface="Calibri"/>
                <a:ea typeface="Calibri"/>
                <a:cs typeface="Calibri"/>
                <a:sym typeface="Calibri"/>
              </a:rPr>
              <a:t>Dropout / wd: </a:t>
            </a:r>
            <a:r>
              <a:rPr lang="en-US" sz="1050">
                <a:solidFill>
                  <a:srgbClr val="22303A"/>
                </a:solidFill>
                <a:latin typeface="Calibri"/>
                <a:ea typeface="Calibri"/>
                <a:cs typeface="Calibri"/>
                <a:sym typeface="Calibri"/>
              </a:rPr>
              <a:t>0.5 / 1e-4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5C6B73"/>
                </a:solidFill>
                <a:latin typeface="Calibri"/>
                <a:ea typeface="Calibri"/>
                <a:cs typeface="Calibri"/>
                <a:sym typeface="Calibri"/>
              </a:rPr>
              <a:t>Note: </a:t>
            </a:r>
            <a:r>
              <a:rPr lang="en-US" sz="1050">
                <a:solidFill>
                  <a:srgbClr val="22303A"/>
                </a:solidFill>
                <a:latin typeface="Calibri"/>
                <a:ea typeface="Calibri"/>
                <a:cs typeface="Calibri"/>
                <a:sym typeface="Calibri"/>
              </a:rPr>
              <a:t>dropout 0.3 beats 0.5 at this lr</a:t>
            </a:r>
            <a:endParaRPr sz="1050">
              <a:solidFill>
                <a:srgbClr val="22303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0E9594"/>
                </a:solidFill>
                <a:latin typeface="Calibri"/>
                <a:ea typeface="Calibri"/>
                <a:cs typeface="Calibri"/>
                <a:sym typeface="Calibri"/>
              </a:rPr>
              <a:t>AUC 0.681  |  fake-recall 46%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50">
              <a:solidFill>
                <a:srgbClr val="0E959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C9971B"/>
                </a:solidFill>
                <a:latin typeface="Calibri"/>
                <a:ea typeface="Calibri"/>
                <a:cs typeface="Calibri"/>
                <a:sym typeface="Calibri"/>
              </a:rPr>
              <a:t>Best config</a:t>
            </a:r>
            <a:endParaRPr b="1" sz="1050">
              <a:solidFill>
                <a:srgbClr val="C9971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5C6B73"/>
                </a:solidFill>
                <a:latin typeface="Calibri"/>
                <a:ea typeface="Calibri"/>
                <a:cs typeface="Calibri"/>
                <a:sym typeface="Calibri"/>
              </a:rPr>
              <a:t>Conv depth / ch: </a:t>
            </a:r>
            <a:r>
              <a:rPr lang="en-US" sz="1050">
                <a:solidFill>
                  <a:srgbClr val="22303A"/>
                </a:solidFill>
                <a:latin typeface="Calibri"/>
                <a:ea typeface="Calibri"/>
                <a:cs typeface="Calibri"/>
                <a:sym typeface="Calibri"/>
              </a:rPr>
              <a:t>3 blocks / 32 ch</a:t>
            </a:r>
            <a:endParaRPr sz="1050">
              <a:solidFill>
                <a:srgbClr val="22303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5C6B73"/>
                </a:solidFill>
                <a:latin typeface="Calibri"/>
                <a:ea typeface="Calibri"/>
                <a:cs typeface="Calibri"/>
                <a:sym typeface="Calibri"/>
              </a:rPr>
              <a:t>Learning rate: </a:t>
            </a:r>
            <a:r>
              <a:rPr b="1" lang="en-US" sz="1050">
                <a:solidFill>
                  <a:srgbClr val="22303A"/>
                </a:solidFill>
                <a:latin typeface="Calibri"/>
                <a:ea typeface="Calibri"/>
                <a:cs typeface="Calibri"/>
                <a:sym typeface="Calibri"/>
              </a:rPr>
              <a:t>1e-3</a:t>
            </a:r>
            <a:endParaRPr b="1" sz="1050">
              <a:solidFill>
                <a:srgbClr val="22303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5C6B73"/>
                </a:solidFill>
                <a:latin typeface="Calibri"/>
                <a:ea typeface="Calibri"/>
                <a:cs typeface="Calibri"/>
                <a:sym typeface="Calibri"/>
              </a:rPr>
              <a:t>Dropout / wd: </a:t>
            </a:r>
            <a:r>
              <a:rPr lang="en-US" sz="1050">
                <a:solidFill>
                  <a:srgbClr val="22303A"/>
                </a:solidFill>
                <a:latin typeface="Calibri"/>
                <a:ea typeface="Calibri"/>
                <a:cs typeface="Calibri"/>
                <a:sym typeface="Calibri"/>
              </a:rPr>
              <a:t>0.5 / 1e-4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5C6B73"/>
                </a:solidFill>
                <a:latin typeface="Calibri"/>
                <a:ea typeface="Calibri"/>
                <a:cs typeface="Calibri"/>
                <a:sym typeface="Calibri"/>
              </a:rPr>
              <a:t>Note: </a:t>
            </a:r>
            <a:r>
              <a:rPr lang="en-US" sz="1050">
                <a:solidFill>
                  <a:srgbClr val="22303A"/>
                </a:solidFill>
                <a:latin typeface="Calibri"/>
                <a:ea typeface="Calibri"/>
                <a:cs typeface="Calibri"/>
                <a:sym typeface="Calibri"/>
              </a:rPr>
              <a:t>lr×dropout interaction: lr 1e-3 needs do 0.5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C9971B"/>
                </a:solidFill>
                <a:latin typeface="Calibri"/>
                <a:ea typeface="Calibri"/>
                <a:cs typeface="Calibri"/>
                <a:sym typeface="Calibri"/>
              </a:rPr>
              <a:t>AUC 0.870  |  fake-recall 72%</a:t>
            </a:r>
            <a:endParaRPr/>
          </a:p>
        </p:txBody>
      </p:sp>
      <p:sp>
        <p:nvSpPr>
          <p:cNvPr id="110" name="Google Shape;110;p10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B85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B85"/>
                </a:solidFill>
                <a:latin typeface="Calibri"/>
                <a:ea typeface="Calibri"/>
                <a:cs typeface="Calibri"/>
                <a:sym typeface="Calibri"/>
              </a:rPr>
              <a:t>Audio Deepfake Detection — DL project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0"/>
          <p:cNvSpPr/>
          <p:nvPr/>
        </p:nvSpPr>
        <p:spPr>
          <a:xfrm>
            <a:off x="11430000" y="6437376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B85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B85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fig_cnn_hparam.png" id="112" name="Google Shape;11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2075" y="1344167"/>
            <a:ext cx="8028329" cy="43152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1"/>
          <p:cNvSpPr/>
          <p:nvPr/>
        </p:nvSpPr>
        <p:spPr>
          <a:xfrm>
            <a:off x="548640" y="566928"/>
            <a:ext cx="146304" cy="457200"/>
          </a:xfrm>
          <a:prstGeom prst="rect">
            <a:avLst/>
          </a:prstGeom>
          <a:solidFill>
            <a:srgbClr val="0E959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1"/>
          <p:cNvSpPr/>
          <p:nvPr/>
        </p:nvSpPr>
        <p:spPr>
          <a:xfrm>
            <a:off x="822960" y="310896"/>
            <a:ext cx="10515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9594"/>
              </a:buClr>
              <a:buSzPts val="1200"/>
              <a:buFont typeface="Trebuchet MS"/>
              <a:buNone/>
            </a:pPr>
            <a:r>
              <a:rPr b="1" lang="en-US" sz="1200">
                <a:solidFill>
                  <a:srgbClr val="0E9594"/>
                </a:solidFill>
                <a:latin typeface="Trebuchet MS"/>
                <a:ea typeface="Trebuchet MS"/>
                <a:cs typeface="Trebuchet MS"/>
                <a:sym typeface="Trebuchet MS"/>
              </a:rPr>
              <a:t>ARCHITECTURE 3 · RNN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1"/>
          <p:cNvSpPr/>
          <p:nvPr/>
        </p:nvSpPr>
        <p:spPr>
          <a:xfrm>
            <a:off x="822960" y="566928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03A"/>
              </a:buClr>
              <a:buSzPts val="2800"/>
              <a:buFont typeface="Trebuchet MS"/>
              <a:buNone/>
            </a:pPr>
            <a:r>
              <a:rPr b="1" lang="en-US" sz="2800">
                <a:solidFill>
                  <a:srgbClr val="22303A"/>
                </a:solidFill>
                <a:latin typeface="Trebuchet MS"/>
                <a:ea typeface="Trebuchet MS"/>
                <a:cs typeface="Trebuchet MS"/>
                <a:sym typeface="Trebuchet MS"/>
              </a:rPr>
              <a:t>Pure BiLSTM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1"/>
          <p:cNvSpPr/>
          <p:nvPr/>
        </p:nvSpPr>
        <p:spPr>
          <a:xfrm>
            <a:off x="731520" y="564184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B85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6B7B85"/>
                </a:solidFill>
                <a:latin typeface="Calibri"/>
                <a:ea typeface="Calibri"/>
                <a:cs typeface="Calibri"/>
                <a:sym typeface="Calibri"/>
              </a:rPr>
              <a:t>One-axis sweeps around the baseline config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1"/>
          <p:cNvSpPr/>
          <p:nvPr/>
        </p:nvSpPr>
        <p:spPr>
          <a:xfrm>
            <a:off x="8321040" y="1691640"/>
            <a:ext cx="3413455" cy="4206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2303A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22303A"/>
                </a:solidFill>
                <a:latin typeface="Calibri"/>
                <a:ea typeface="Calibri"/>
                <a:cs typeface="Calibri"/>
                <a:sym typeface="Calibri"/>
              </a:rPr>
              <a:t>Pure BiLSTM tops out at AUC ≈ 0.66 barely above the MLP.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22303A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22303A"/>
                </a:solidFill>
                <a:latin typeface="Calibri"/>
                <a:ea typeface="Calibri"/>
                <a:cs typeface="Calibri"/>
                <a:sym typeface="Calibri"/>
              </a:rPr>
              <a:t>More layers / wider hidden does not help: it is bottlenecked by representation, not temporal capacity.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0E9594"/>
                </a:solidFill>
                <a:latin typeface="Calibri"/>
                <a:ea typeface="Calibri"/>
                <a:cs typeface="Calibri"/>
                <a:sym typeface="Calibri"/>
              </a:rPr>
              <a:t>Baseline config</a:t>
            </a:r>
            <a:endParaRPr b="1" sz="1050">
              <a:solidFill>
                <a:srgbClr val="0E959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5C6B73"/>
                </a:solidFill>
                <a:latin typeface="Calibri"/>
                <a:ea typeface="Calibri"/>
                <a:cs typeface="Calibri"/>
                <a:sym typeface="Calibri"/>
              </a:rPr>
              <a:t>BiLSTM layers / h: </a:t>
            </a:r>
            <a:r>
              <a:rPr lang="en-US" sz="1050">
                <a:solidFill>
                  <a:srgbClr val="22303A"/>
                </a:solidFill>
                <a:latin typeface="Calibri"/>
                <a:ea typeface="Calibri"/>
                <a:cs typeface="Calibri"/>
                <a:sym typeface="Calibri"/>
              </a:rPr>
              <a:t>2 / 128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5C6B73"/>
                </a:solidFill>
                <a:latin typeface="Calibri"/>
                <a:ea typeface="Calibri"/>
                <a:cs typeface="Calibri"/>
                <a:sym typeface="Calibri"/>
              </a:rPr>
              <a:t>Learning rate: </a:t>
            </a:r>
            <a:r>
              <a:rPr lang="en-US" sz="1050">
                <a:solidFill>
                  <a:srgbClr val="22303A"/>
                </a:solidFill>
                <a:latin typeface="Calibri"/>
                <a:ea typeface="Calibri"/>
                <a:cs typeface="Calibri"/>
                <a:sym typeface="Calibri"/>
              </a:rPr>
              <a:t>5e-4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5C6B73"/>
                </a:solidFill>
                <a:latin typeface="Calibri"/>
                <a:ea typeface="Calibri"/>
                <a:cs typeface="Calibri"/>
                <a:sym typeface="Calibri"/>
              </a:rPr>
              <a:t>Dropout / wd: </a:t>
            </a:r>
            <a:r>
              <a:rPr lang="en-US" sz="1050">
                <a:solidFill>
                  <a:srgbClr val="22303A"/>
                </a:solidFill>
                <a:latin typeface="Calibri"/>
                <a:ea typeface="Calibri"/>
                <a:cs typeface="Calibri"/>
                <a:sym typeface="Calibri"/>
              </a:rPr>
              <a:t>0.5 / 1e-4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0E9594"/>
                </a:solidFill>
                <a:latin typeface="Calibri"/>
                <a:ea typeface="Calibri"/>
                <a:cs typeface="Calibri"/>
                <a:sym typeface="Calibri"/>
              </a:rPr>
              <a:t>AUC 0.592  |  fake-recall 12%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50">
              <a:solidFill>
                <a:srgbClr val="0E959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C9971B"/>
                </a:solidFill>
                <a:latin typeface="Calibri"/>
                <a:ea typeface="Calibri"/>
                <a:cs typeface="Calibri"/>
                <a:sym typeface="Calibri"/>
              </a:rPr>
              <a:t>Best config</a:t>
            </a:r>
            <a:endParaRPr b="1" sz="1050">
              <a:solidFill>
                <a:srgbClr val="C9971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5C6B73"/>
                </a:solidFill>
                <a:latin typeface="Calibri"/>
                <a:ea typeface="Calibri"/>
                <a:cs typeface="Calibri"/>
                <a:sym typeface="Calibri"/>
              </a:rPr>
              <a:t>BiLSTM layers / h: </a:t>
            </a:r>
            <a:r>
              <a:rPr lang="en-US" sz="1050">
                <a:solidFill>
                  <a:srgbClr val="22303A"/>
                </a:solidFill>
                <a:latin typeface="Calibri"/>
                <a:ea typeface="Calibri"/>
                <a:cs typeface="Calibri"/>
                <a:sym typeface="Calibri"/>
              </a:rPr>
              <a:t>1 / 128 </a:t>
            </a:r>
            <a:endParaRPr sz="1050">
              <a:solidFill>
                <a:srgbClr val="22303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5C6B73"/>
                </a:solidFill>
                <a:latin typeface="Calibri"/>
                <a:ea typeface="Calibri"/>
                <a:cs typeface="Calibri"/>
                <a:sym typeface="Calibri"/>
              </a:rPr>
              <a:t>Learning rate: </a:t>
            </a:r>
            <a:r>
              <a:rPr lang="en-US" sz="1050">
                <a:solidFill>
                  <a:srgbClr val="22303A"/>
                </a:solidFill>
                <a:latin typeface="Calibri"/>
                <a:ea typeface="Calibri"/>
                <a:cs typeface="Calibri"/>
                <a:sym typeface="Calibri"/>
              </a:rPr>
              <a:t>5e-4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5C6B73"/>
                </a:solidFill>
                <a:latin typeface="Calibri"/>
                <a:ea typeface="Calibri"/>
                <a:cs typeface="Calibri"/>
                <a:sym typeface="Calibri"/>
              </a:rPr>
              <a:t>Dropout / wd: </a:t>
            </a:r>
            <a:r>
              <a:rPr lang="en-US" sz="1050">
                <a:solidFill>
                  <a:srgbClr val="22303A"/>
                </a:solidFill>
                <a:latin typeface="Calibri"/>
                <a:ea typeface="Calibri"/>
                <a:cs typeface="Calibri"/>
                <a:sym typeface="Calibri"/>
              </a:rPr>
              <a:t>0.5 / 1e-4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C9971B"/>
                </a:solidFill>
                <a:latin typeface="Calibri"/>
                <a:ea typeface="Calibri"/>
                <a:cs typeface="Calibri"/>
                <a:sym typeface="Calibri"/>
              </a:rPr>
              <a:t>AUC 0.660  |  fake-recall 17%</a:t>
            </a:r>
            <a:endParaRPr/>
          </a:p>
        </p:txBody>
      </p:sp>
      <p:sp>
        <p:nvSpPr>
          <p:cNvPr id="123" name="Google Shape;123;p11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B85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B85"/>
                </a:solidFill>
                <a:latin typeface="Calibri"/>
                <a:ea typeface="Calibri"/>
                <a:cs typeface="Calibri"/>
                <a:sym typeface="Calibri"/>
              </a:rPr>
              <a:t>Audio Deepfake Detection — DL project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1"/>
          <p:cNvSpPr/>
          <p:nvPr/>
        </p:nvSpPr>
        <p:spPr>
          <a:xfrm>
            <a:off x="11430000" y="6437376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B85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B85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fig_rnn_hparam.png" id="125" name="Google Shape;125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1691640"/>
            <a:ext cx="7315200" cy="39319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2"/>
          <p:cNvSpPr/>
          <p:nvPr/>
        </p:nvSpPr>
        <p:spPr>
          <a:xfrm>
            <a:off x="548640" y="566928"/>
            <a:ext cx="146304" cy="457200"/>
          </a:xfrm>
          <a:prstGeom prst="rect">
            <a:avLst/>
          </a:prstGeom>
          <a:solidFill>
            <a:srgbClr val="0E959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2"/>
          <p:cNvSpPr/>
          <p:nvPr/>
        </p:nvSpPr>
        <p:spPr>
          <a:xfrm>
            <a:off x="822960" y="310896"/>
            <a:ext cx="10515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9594"/>
              </a:buClr>
              <a:buSzPts val="1200"/>
              <a:buFont typeface="Trebuchet MS"/>
              <a:buNone/>
            </a:pPr>
            <a:r>
              <a:rPr b="1" lang="en-US" sz="1200">
                <a:solidFill>
                  <a:srgbClr val="0E9594"/>
                </a:solidFill>
                <a:latin typeface="Trebuchet MS"/>
                <a:ea typeface="Trebuchet MS"/>
                <a:cs typeface="Trebuchet MS"/>
                <a:sym typeface="Trebuchet MS"/>
              </a:rPr>
              <a:t>ARCHITECTURE 3 · CRNN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2"/>
          <p:cNvSpPr/>
          <p:nvPr/>
        </p:nvSpPr>
        <p:spPr>
          <a:xfrm>
            <a:off x="822960" y="566928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03A"/>
              </a:buClr>
              <a:buSzPts val="2800"/>
              <a:buFont typeface="Trebuchet MS"/>
              <a:buNone/>
            </a:pPr>
            <a:r>
              <a:rPr b="1" lang="en-US" sz="2800">
                <a:solidFill>
                  <a:srgbClr val="22303A"/>
                </a:solidFill>
                <a:latin typeface="Trebuchet MS"/>
                <a:ea typeface="Trebuchet MS"/>
                <a:cs typeface="Trebuchet MS"/>
                <a:sym typeface="Trebuchet MS"/>
              </a:rPr>
              <a:t>Combining CNN &amp; RNN architectures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2"/>
          <p:cNvSpPr/>
          <p:nvPr/>
        </p:nvSpPr>
        <p:spPr>
          <a:xfrm>
            <a:off x="8321040" y="1691640"/>
            <a:ext cx="3413455" cy="4206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2303A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22303A"/>
                </a:solidFill>
                <a:latin typeface="Calibri"/>
                <a:ea typeface="Calibri"/>
                <a:cs typeface="Calibri"/>
                <a:sym typeface="Calibri"/>
              </a:rPr>
              <a:t>CRNN ≈ CNN (AUC ≈ 0.86): the CNN block does the heavy lifting.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22303A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22303A"/>
                </a:solidFill>
                <a:latin typeface="Calibri"/>
                <a:ea typeface="Calibri"/>
                <a:cs typeface="Calibri"/>
                <a:sym typeface="Calibri"/>
              </a:rPr>
              <a:t>Best: conv depth 3, 32 ch, 2 BiLSTM layers, lr 5e-4.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22303A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22303A"/>
                </a:solidFill>
                <a:latin typeface="Calibri"/>
                <a:ea typeface="Calibri"/>
                <a:cs typeface="Calibri"/>
                <a:sym typeface="Calibri"/>
              </a:rPr>
              <a:t>Large LR (1e-3) destabilizes the recurrent part of the model.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22303A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22303A"/>
                </a:solidFill>
                <a:latin typeface="Calibri"/>
                <a:ea typeface="Calibri"/>
                <a:cs typeface="Calibri"/>
                <a:sym typeface="Calibri"/>
              </a:rPr>
              <a:t>Temporal modelling adds little once convolution is present.</a:t>
            </a:r>
            <a:endParaRPr/>
          </a:p>
          <a:p>
            <a:pPr indent="-34290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22303A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22303A"/>
                </a:solidFill>
                <a:latin typeface="Calibri"/>
                <a:ea typeface="Calibri"/>
                <a:cs typeface="Calibri"/>
                <a:sym typeface="Calibri"/>
              </a:rPr>
              <a:t>RNN 0.66 vs CRNN 0.86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0E9594"/>
                </a:solidFill>
                <a:latin typeface="Calibri"/>
                <a:ea typeface="Calibri"/>
                <a:cs typeface="Calibri"/>
                <a:sym typeface="Calibri"/>
              </a:rPr>
              <a:t>Baseline config</a:t>
            </a:r>
            <a:endParaRPr b="1" sz="1050">
              <a:solidFill>
                <a:srgbClr val="0E959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5C6B73"/>
                </a:solidFill>
                <a:latin typeface="Calibri"/>
                <a:ea typeface="Calibri"/>
                <a:cs typeface="Calibri"/>
                <a:sym typeface="Calibri"/>
              </a:rPr>
              <a:t>CNN depth / ch: </a:t>
            </a:r>
            <a:r>
              <a:rPr lang="en-US" sz="1050">
                <a:solidFill>
                  <a:srgbClr val="22303A"/>
                </a:solidFill>
                <a:latin typeface="Calibri"/>
                <a:ea typeface="Calibri"/>
                <a:cs typeface="Calibri"/>
                <a:sym typeface="Calibri"/>
              </a:rPr>
              <a:t>3 blocks / 32 ch</a:t>
            </a:r>
            <a:endParaRPr sz="1050">
              <a:solidFill>
                <a:srgbClr val="22303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5C6B73"/>
                </a:solidFill>
                <a:latin typeface="Calibri"/>
                <a:ea typeface="Calibri"/>
                <a:cs typeface="Calibri"/>
                <a:sym typeface="Calibri"/>
              </a:rPr>
              <a:t>BiLSTM layers / h: </a:t>
            </a:r>
            <a:r>
              <a:rPr lang="en-US" sz="1050">
                <a:solidFill>
                  <a:srgbClr val="22303A"/>
                </a:solidFill>
                <a:latin typeface="Calibri"/>
                <a:ea typeface="Calibri"/>
                <a:cs typeface="Calibri"/>
                <a:sym typeface="Calibri"/>
              </a:rPr>
              <a:t>2 / 128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5C6B73"/>
                </a:solidFill>
                <a:latin typeface="Calibri"/>
                <a:ea typeface="Calibri"/>
                <a:cs typeface="Calibri"/>
                <a:sym typeface="Calibri"/>
              </a:rPr>
              <a:t>Learning rate: </a:t>
            </a:r>
            <a:r>
              <a:rPr lang="en-US" sz="1050">
                <a:solidFill>
                  <a:srgbClr val="22303A"/>
                </a:solidFill>
                <a:latin typeface="Calibri"/>
                <a:ea typeface="Calibri"/>
                <a:cs typeface="Calibri"/>
                <a:sym typeface="Calibri"/>
              </a:rPr>
              <a:t>5e-4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5C6B73"/>
                </a:solidFill>
                <a:latin typeface="Calibri"/>
                <a:ea typeface="Calibri"/>
                <a:cs typeface="Calibri"/>
                <a:sym typeface="Calibri"/>
              </a:rPr>
              <a:t>Dropout / wd: </a:t>
            </a:r>
            <a:r>
              <a:rPr lang="en-US" sz="1050">
                <a:solidFill>
                  <a:srgbClr val="22303A"/>
                </a:solidFill>
                <a:latin typeface="Calibri"/>
                <a:ea typeface="Calibri"/>
                <a:cs typeface="Calibri"/>
                <a:sym typeface="Calibri"/>
              </a:rPr>
              <a:t>0.5 / 1e-4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0E9594"/>
                </a:solidFill>
                <a:latin typeface="Calibri"/>
                <a:ea typeface="Calibri"/>
                <a:cs typeface="Calibri"/>
                <a:sym typeface="Calibri"/>
              </a:rPr>
              <a:t>AUC 0.860  |  fake-recall 54%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50">
              <a:solidFill>
                <a:srgbClr val="0E959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C9971B"/>
                </a:solidFill>
                <a:latin typeface="Calibri"/>
                <a:ea typeface="Calibri"/>
                <a:cs typeface="Calibri"/>
                <a:sym typeface="Calibri"/>
              </a:rPr>
              <a:t>Best config  =  Baseline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5C6B73"/>
                </a:solidFill>
                <a:latin typeface="Calibri"/>
                <a:ea typeface="Calibri"/>
                <a:cs typeface="Calibri"/>
                <a:sym typeface="Calibri"/>
              </a:rPr>
              <a:t>Note: </a:t>
            </a:r>
            <a:r>
              <a:rPr lang="en-US" sz="1050">
                <a:solidFill>
                  <a:srgbClr val="22303A"/>
                </a:solidFill>
                <a:latin typeface="Calibri"/>
                <a:ea typeface="Calibri"/>
                <a:cs typeface="Calibri"/>
                <a:sym typeface="Calibri"/>
              </a:rPr>
              <a:t>Baseline is the optimum</a:t>
            </a:r>
            <a:endParaRPr sz="1050">
              <a:solidFill>
                <a:srgbClr val="22303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C9971B"/>
                </a:solidFill>
                <a:latin typeface="Calibri"/>
                <a:ea typeface="Calibri"/>
                <a:cs typeface="Calibri"/>
                <a:sym typeface="Calibri"/>
              </a:rPr>
              <a:t>AUC 0.860  |  fake-recall 54%</a:t>
            </a:r>
            <a:endParaRPr/>
          </a:p>
        </p:txBody>
      </p:sp>
      <p:sp>
        <p:nvSpPr>
          <p:cNvPr id="135" name="Google Shape;135;p12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B85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B85"/>
                </a:solidFill>
                <a:latin typeface="Calibri"/>
                <a:ea typeface="Calibri"/>
                <a:cs typeface="Calibri"/>
                <a:sym typeface="Calibri"/>
              </a:rPr>
              <a:t>Audio Deepfake Detection — DL project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2"/>
          <p:cNvSpPr/>
          <p:nvPr/>
        </p:nvSpPr>
        <p:spPr>
          <a:xfrm>
            <a:off x="11430000" y="6437376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B85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B85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fig_crnn_hparam.png" id="137" name="Google Shape;13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9628" y="1463040"/>
            <a:ext cx="7794642" cy="41896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3"/>
          <p:cNvSpPr/>
          <p:nvPr/>
        </p:nvSpPr>
        <p:spPr>
          <a:xfrm>
            <a:off x="548640" y="566928"/>
            <a:ext cx="146304" cy="457200"/>
          </a:xfrm>
          <a:prstGeom prst="rect">
            <a:avLst/>
          </a:prstGeom>
          <a:solidFill>
            <a:srgbClr val="0E959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3"/>
          <p:cNvSpPr/>
          <p:nvPr/>
        </p:nvSpPr>
        <p:spPr>
          <a:xfrm>
            <a:off x="822960" y="310896"/>
            <a:ext cx="10515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9594"/>
              </a:buClr>
              <a:buSzPts val="1200"/>
              <a:buFont typeface="Trebuchet MS"/>
              <a:buNone/>
            </a:pPr>
            <a:r>
              <a:rPr b="1" lang="en-US" sz="1200">
                <a:solidFill>
                  <a:srgbClr val="0E9594"/>
                </a:solidFill>
                <a:latin typeface="Trebuchet MS"/>
                <a:ea typeface="Trebuchet MS"/>
                <a:cs typeface="Trebuchet MS"/>
                <a:sym typeface="Trebuchet MS"/>
              </a:rPr>
              <a:t>ARCHITECTURE 4 · WAVLM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3"/>
          <p:cNvSpPr/>
          <p:nvPr/>
        </p:nvSpPr>
        <p:spPr>
          <a:xfrm>
            <a:off x="822960" y="566928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WAVLM Based Classifier Network</a:t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3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B85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B85"/>
                </a:solidFill>
                <a:latin typeface="Calibri"/>
                <a:ea typeface="Calibri"/>
                <a:cs typeface="Calibri"/>
                <a:sym typeface="Calibri"/>
              </a:rPr>
              <a:t>Audio Deepfake Detection — DL project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3"/>
          <p:cNvSpPr/>
          <p:nvPr/>
        </p:nvSpPr>
        <p:spPr>
          <a:xfrm>
            <a:off x="11430000" y="6437376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B85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B85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8" name="Google Shape;14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1560" y="1463040"/>
            <a:ext cx="10058400" cy="49937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4"/>
          <p:cNvSpPr/>
          <p:nvPr/>
        </p:nvSpPr>
        <p:spPr>
          <a:xfrm>
            <a:off x="548640" y="566928"/>
            <a:ext cx="146304" cy="457200"/>
          </a:xfrm>
          <a:prstGeom prst="rect">
            <a:avLst/>
          </a:prstGeom>
          <a:solidFill>
            <a:srgbClr val="0E959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4"/>
          <p:cNvSpPr/>
          <p:nvPr/>
        </p:nvSpPr>
        <p:spPr>
          <a:xfrm>
            <a:off x="822960" y="310896"/>
            <a:ext cx="10515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9594"/>
              </a:buClr>
              <a:buSzPts val="1200"/>
              <a:buFont typeface="Trebuchet MS"/>
              <a:buNone/>
            </a:pPr>
            <a:r>
              <a:rPr b="1" lang="en-US" sz="1200">
                <a:solidFill>
                  <a:srgbClr val="0E9594"/>
                </a:solidFill>
                <a:latin typeface="Trebuchet MS"/>
                <a:ea typeface="Trebuchet MS"/>
                <a:cs typeface="Trebuchet MS"/>
                <a:sym typeface="Trebuchet MS"/>
              </a:rPr>
              <a:t>ARCHITECTURE 4 · WAVLM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4"/>
          <p:cNvSpPr/>
          <p:nvPr/>
        </p:nvSpPr>
        <p:spPr>
          <a:xfrm>
            <a:off x="822960" y="566928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Pre-trained WavLM Transformer Layer weight distribution</a:t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4"/>
          <p:cNvSpPr/>
          <p:nvPr/>
        </p:nvSpPr>
        <p:spPr>
          <a:xfrm>
            <a:off x="7955280" y="1691640"/>
            <a:ext cx="3779215" cy="4206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2303A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22303A"/>
                </a:solidFill>
                <a:latin typeface="Calibri"/>
                <a:ea typeface="Calibri"/>
                <a:cs typeface="Calibri"/>
                <a:sym typeface="Calibri"/>
              </a:rPr>
              <a:t>Frozen backbone = weighted sum over hidden layers + linear or MLP  head.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22303A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22303A"/>
                </a:solidFill>
                <a:latin typeface="Calibri"/>
                <a:ea typeface="Calibri"/>
                <a:cs typeface="Calibri"/>
                <a:sym typeface="Calibri"/>
              </a:rPr>
              <a:t>~81% of weight on layer 3 of 12, the top layer is nearly ignored.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22303A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22303A"/>
                </a:solidFill>
                <a:latin typeface="Calibri"/>
                <a:ea typeface="Calibri"/>
                <a:cs typeface="Calibri"/>
                <a:sym typeface="Calibri"/>
              </a:rPr>
              <a:t>A 13-layer variant (incl. CNN embedding) agrees — same block.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50">
                <a:solidFill>
                  <a:srgbClr val="0E9594"/>
                </a:solidFill>
                <a:latin typeface="Calibri"/>
                <a:ea typeface="Calibri"/>
                <a:cs typeface="Calibri"/>
                <a:sym typeface="Calibri"/>
              </a:rPr>
              <a:t>Frozen backbone config</a:t>
            </a:r>
            <a:endParaRPr b="1" sz="950">
              <a:solidFill>
                <a:srgbClr val="0E959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C6B73"/>
                </a:solidFill>
                <a:latin typeface="Calibri"/>
                <a:ea typeface="Calibri"/>
                <a:cs typeface="Calibri"/>
                <a:sym typeface="Calibri"/>
              </a:rPr>
              <a:t>Aggregation: </a:t>
            </a:r>
            <a:r>
              <a:rPr lang="en-US" sz="900">
                <a:solidFill>
                  <a:srgbClr val="22303A"/>
                </a:solidFill>
                <a:latin typeface="Calibri"/>
                <a:ea typeface="Calibri"/>
                <a:cs typeface="Calibri"/>
                <a:sym typeface="Calibri"/>
              </a:rPr>
              <a:t>Softmax-weighted sum, 12 layers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C6B73"/>
                </a:solidFill>
                <a:latin typeface="Calibri"/>
                <a:ea typeface="Calibri"/>
                <a:cs typeface="Calibri"/>
                <a:sym typeface="Calibri"/>
              </a:rPr>
              <a:t>Dominant layer: </a:t>
            </a:r>
            <a:r>
              <a:rPr lang="en-US" sz="900">
                <a:solidFill>
                  <a:srgbClr val="22303A"/>
                </a:solidFill>
                <a:latin typeface="Calibri"/>
                <a:ea typeface="Calibri"/>
                <a:cs typeface="Calibri"/>
                <a:sym typeface="Calibri"/>
              </a:rPr>
              <a:t>Layer 3 of 12  (~81% weight)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C6B73"/>
                </a:solidFill>
                <a:latin typeface="Calibri"/>
                <a:ea typeface="Calibri"/>
                <a:cs typeface="Calibri"/>
                <a:sym typeface="Calibri"/>
              </a:rPr>
              <a:t>Trainable params: </a:t>
            </a:r>
            <a:r>
              <a:rPr lang="en-US" sz="900">
                <a:solidFill>
                  <a:srgbClr val="22303A"/>
                </a:solidFill>
                <a:latin typeface="Calibri"/>
                <a:ea typeface="Calibri"/>
                <a:cs typeface="Calibri"/>
                <a:sym typeface="Calibri"/>
              </a:rPr>
              <a:t>~5K </a:t>
            </a:r>
            <a:endParaRPr sz="900">
              <a:solidFill>
                <a:srgbClr val="22303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0E9594"/>
                </a:solidFill>
                <a:latin typeface="Calibri"/>
                <a:ea typeface="Calibri"/>
                <a:cs typeface="Calibri"/>
                <a:sym typeface="Calibri"/>
              </a:rPr>
              <a:t>AUC 0.918  |  fake-recall 57%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0E959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4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B85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B85"/>
                </a:solidFill>
                <a:latin typeface="Calibri"/>
                <a:ea typeface="Calibri"/>
                <a:cs typeface="Calibri"/>
                <a:sym typeface="Calibri"/>
              </a:rPr>
              <a:t>Audio Deepfake Detection — DL project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4"/>
          <p:cNvSpPr/>
          <p:nvPr/>
        </p:nvSpPr>
        <p:spPr>
          <a:xfrm>
            <a:off x="11430000" y="6437376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B85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B85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4"/>
          <p:cNvSpPr txBox="1"/>
          <p:nvPr/>
        </p:nvSpPr>
        <p:spPr>
          <a:xfrm>
            <a:off x="2669058" y="1691640"/>
            <a:ext cx="3657601" cy="43742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1" name="Google Shape;161;p14" title="outpu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3375" y="1723839"/>
            <a:ext cx="7650480" cy="34102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5"/>
          <p:cNvSpPr/>
          <p:nvPr/>
        </p:nvSpPr>
        <p:spPr>
          <a:xfrm>
            <a:off x="548640" y="566928"/>
            <a:ext cx="146304" cy="457200"/>
          </a:xfrm>
          <a:prstGeom prst="rect">
            <a:avLst/>
          </a:prstGeom>
          <a:solidFill>
            <a:srgbClr val="0E959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5"/>
          <p:cNvSpPr/>
          <p:nvPr/>
        </p:nvSpPr>
        <p:spPr>
          <a:xfrm>
            <a:off x="822960" y="310896"/>
            <a:ext cx="10515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9594"/>
              </a:buClr>
              <a:buSzPts val="1200"/>
              <a:buFont typeface="Trebuchet MS"/>
              <a:buNone/>
            </a:pPr>
            <a:r>
              <a:rPr b="1" lang="en-US" sz="1200">
                <a:solidFill>
                  <a:srgbClr val="0E9594"/>
                </a:solidFill>
                <a:latin typeface="Trebuchet MS"/>
                <a:ea typeface="Trebuchet MS"/>
                <a:cs typeface="Trebuchet MS"/>
                <a:sym typeface="Trebuchet MS"/>
              </a:rPr>
              <a:t>ARCHITECTURE 4 · WAVLM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5"/>
          <p:cNvSpPr/>
          <p:nvPr/>
        </p:nvSpPr>
        <p:spPr>
          <a:xfrm>
            <a:off x="822960" y="566928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03A"/>
              </a:buClr>
              <a:buSzPts val="2800"/>
              <a:buFont typeface="Trebuchet MS"/>
              <a:buNone/>
            </a:pPr>
            <a:r>
              <a:rPr b="1" lang="en-US" sz="2800">
                <a:solidFill>
                  <a:srgbClr val="22303A"/>
                </a:solidFill>
                <a:latin typeface="Trebuchet MS"/>
                <a:ea typeface="Trebuchet MS"/>
                <a:cs typeface="Trebuchet MS"/>
                <a:sym typeface="Trebuchet MS"/>
              </a:rPr>
              <a:t>Embeddings &amp; scores explain the cross-dataset gap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5"/>
          <p:cNvSpPr/>
          <p:nvPr/>
        </p:nvSpPr>
        <p:spPr>
          <a:xfrm>
            <a:off x="2519408" y="1157583"/>
            <a:ext cx="1350181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9594"/>
              </a:buClr>
              <a:buSzPts val="1200"/>
              <a:buFont typeface="Trebuchet MS"/>
              <a:buNone/>
            </a:pPr>
            <a:r>
              <a:rPr b="1" lang="en-US" sz="1200">
                <a:solidFill>
                  <a:srgbClr val="0E9594"/>
                </a:solidFill>
                <a:latin typeface="Trebuchet MS"/>
                <a:ea typeface="Trebuchet MS"/>
                <a:cs typeface="Trebuchet MS"/>
                <a:sym typeface="Trebuchet MS"/>
              </a:rPr>
              <a:t>FROZEN backbone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5"/>
          <p:cNvSpPr/>
          <p:nvPr/>
        </p:nvSpPr>
        <p:spPr>
          <a:xfrm>
            <a:off x="8169880" y="1157583"/>
            <a:ext cx="126780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674F"/>
              </a:buClr>
              <a:buSzPts val="1200"/>
              <a:buFont typeface="Trebuchet MS"/>
              <a:buNone/>
            </a:pPr>
            <a:r>
              <a:rPr b="1" lang="en-US" sz="1200">
                <a:solidFill>
                  <a:srgbClr val="E8674F"/>
                </a:solidFill>
                <a:latin typeface="Trebuchet MS"/>
                <a:ea typeface="Trebuchet MS"/>
                <a:cs typeface="Trebuchet MS"/>
                <a:sym typeface="Trebuchet MS"/>
              </a:rPr>
              <a:t>BEST FINE-TUNE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5"/>
          <p:cNvSpPr/>
          <p:nvPr/>
        </p:nvSpPr>
        <p:spPr>
          <a:xfrm>
            <a:off x="389919" y="5415911"/>
            <a:ext cx="11314401" cy="7789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2303A"/>
              </a:buClr>
              <a:buSzPts val="1350"/>
              <a:buFont typeface="Calibri"/>
              <a:buChar char="•"/>
            </a:pPr>
            <a:r>
              <a:rPr lang="en-US" sz="1350">
                <a:solidFill>
                  <a:srgbClr val="22303A"/>
                </a:solidFill>
                <a:latin typeface="Calibri"/>
                <a:ea typeface="Calibri"/>
                <a:cs typeface="Calibri"/>
                <a:sym typeface="Calibri"/>
              </a:rPr>
              <a:t>UMAP: ITW points spread across the boundary.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22303A"/>
              </a:buClr>
              <a:buSzPts val="1350"/>
              <a:buFont typeface="Calibri"/>
              <a:buChar char="•"/>
            </a:pPr>
            <a:r>
              <a:rPr lang="en-US" sz="1350">
                <a:solidFill>
                  <a:srgbClr val="22303A"/>
                </a:solidFill>
                <a:latin typeface="Calibri"/>
                <a:ea typeface="Calibri"/>
                <a:cs typeface="Calibri"/>
                <a:sym typeface="Calibri"/>
              </a:rPr>
              <a:t>This is exactly why an in-domain threshold under-detects ITW fakes.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5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B85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B85"/>
                </a:solidFill>
                <a:latin typeface="Calibri"/>
                <a:ea typeface="Calibri"/>
                <a:cs typeface="Calibri"/>
                <a:sym typeface="Calibri"/>
              </a:rPr>
              <a:t>Audio Deepfake Detection — DL project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5"/>
          <p:cNvSpPr/>
          <p:nvPr/>
        </p:nvSpPr>
        <p:spPr>
          <a:xfrm>
            <a:off x="11430000" y="6437376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B85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B85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75" name="Google Shape;17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" y="1394337"/>
            <a:ext cx="4743078" cy="38735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6" name="Google Shape;176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34985" y="1394337"/>
            <a:ext cx="4743078" cy="38735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6"/>
          <p:cNvSpPr/>
          <p:nvPr/>
        </p:nvSpPr>
        <p:spPr>
          <a:xfrm>
            <a:off x="548640" y="566928"/>
            <a:ext cx="146304" cy="457200"/>
          </a:xfrm>
          <a:prstGeom prst="rect">
            <a:avLst/>
          </a:prstGeom>
          <a:solidFill>
            <a:srgbClr val="0E959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6"/>
          <p:cNvSpPr/>
          <p:nvPr/>
        </p:nvSpPr>
        <p:spPr>
          <a:xfrm>
            <a:off x="822960" y="310896"/>
            <a:ext cx="10515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9594"/>
              </a:buClr>
              <a:buSzPts val="1200"/>
              <a:buFont typeface="Trebuchet MS"/>
              <a:buNone/>
            </a:pPr>
            <a:r>
              <a:rPr b="1" lang="en-US" sz="1200">
                <a:solidFill>
                  <a:srgbClr val="0E9594"/>
                </a:solidFill>
                <a:latin typeface="Trebuchet MS"/>
                <a:ea typeface="Trebuchet MS"/>
                <a:cs typeface="Trebuchet MS"/>
                <a:sym typeface="Trebuchet MS"/>
              </a:rPr>
              <a:t>RESULTS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6"/>
          <p:cNvSpPr/>
          <p:nvPr/>
        </p:nvSpPr>
        <p:spPr>
          <a:xfrm>
            <a:off x="822960" y="566928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03A"/>
              </a:buClr>
              <a:buSzPts val="2800"/>
              <a:buFont typeface="Trebuchet MS"/>
              <a:buNone/>
            </a:pPr>
            <a:r>
              <a:rPr b="1" lang="en-US" sz="2800">
                <a:solidFill>
                  <a:srgbClr val="22303A"/>
                </a:solidFill>
                <a:latin typeface="Trebuchet MS"/>
                <a:ea typeface="Trebuchet MS"/>
                <a:cs typeface="Trebuchet MS"/>
                <a:sym typeface="Trebuchet MS"/>
              </a:rPr>
              <a:t>Cross-dataset performance by model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6"/>
          <p:cNvSpPr/>
          <p:nvPr/>
        </p:nvSpPr>
        <p:spPr>
          <a:xfrm>
            <a:off x="8321040" y="1691640"/>
            <a:ext cx="3413455" cy="4206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2303A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22303A"/>
                </a:solidFill>
                <a:latin typeface="Calibri"/>
                <a:ea typeface="Calibri"/>
                <a:cs typeface="Calibri"/>
                <a:sym typeface="Calibri"/>
              </a:rPr>
              <a:t>By AUC: WavLM (pre-trained) (0.92) &gt; CNN (0.87) ≈ CRNN (0.86) &gt; WavLM ft (0.86) &gt; MLP (0.79) &gt; RNN (0.66).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22303A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22303A"/>
                </a:solidFill>
                <a:latin typeface="Calibri"/>
                <a:ea typeface="Calibri"/>
                <a:cs typeface="Calibri"/>
                <a:sym typeface="Calibri"/>
              </a:rPr>
              <a:t>Representation learning drives the ranking.</a:t>
            </a:r>
            <a:endParaRPr/>
          </a:p>
          <a:p>
            <a:pPr indent="-34290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22303A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22303A"/>
                </a:solidFill>
                <a:latin typeface="Calibri"/>
                <a:ea typeface="Calibri"/>
                <a:cs typeface="Calibri"/>
                <a:sym typeface="Calibri"/>
              </a:rPr>
              <a:t>Fine tuning is constrained by the training data.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22303A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22303A"/>
                </a:solidFill>
                <a:latin typeface="Calibri"/>
                <a:ea typeface="Calibri"/>
                <a:cs typeface="Calibri"/>
                <a:sym typeface="Calibri"/>
              </a:rPr>
              <a:t>Both AUC and fake class recall must be considered.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6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B85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B85"/>
                </a:solidFill>
                <a:latin typeface="Calibri"/>
                <a:ea typeface="Calibri"/>
                <a:cs typeface="Calibri"/>
                <a:sym typeface="Calibri"/>
              </a:rPr>
              <a:t>Audio Deepfake Detection — DL project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6"/>
          <p:cNvSpPr/>
          <p:nvPr/>
        </p:nvSpPr>
        <p:spPr>
          <a:xfrm>
            <a:off x="11430000" y="6437376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B85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B85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fig_results_comparison.png" id="188" name="Google Shape;18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1691640"/>
            <a:ext cx="7315200" cy="411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7"/>
          <p:cNvSpPr/>
          <p:nvPr/>
        </p:nvSpPr>
        <p:spPr>
          <a:xfrm>
            <a:off x="548640" y="566928"/>
            <a:ext cx="146304" cy="457200"/>
          </a:xfrm>
          <a:prstGeom prst="rect">
            <a:avLst/>
          </a:prstGeom>
          <a:solidFill>
            <a:srgbClr val="0E959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7"/>
          <p:cNvSpPr txBox="1"/>
          <p:nvPr/>
        </p:nvSpPr>
        <p:spPr>
          <a:xfrm>
            <a:off x="822960" y="310896"/>
            <a:ext cx="10515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E9594"/>
                </a:solidFill>
                <a:latin typeface="Calibri"/>
                <a:ea typeface="Calibri"/>
                <a:cs typeface="Calibri"/>
                <a:sym typeface="Calibri"/>
              </a:rPr>
              <a:t>RESULTS · AUC VS FAKE RECALL</a:t>
            </a:r>
            <a:endParaRPr/>
          </a:p>
        </p:txBody>
      </p:sp>
      <p:sp>
        <p:nvSpPr>
          <p:cNvPr id="195" name="Google Shape;195;p17"/>
          <p:cNvSpPr txBox="1"/>
          <p:nvPr/>
        </p:nvSpPr>
        <p:spPr>
          <a:xfrm>
            <a:off x="822960" y="566928"/>
            <a:ext cx="1078992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22303A"/>
                </a:solidFill>
                <a:latin typeface="Calibri"/>
                <a:ea typeface="Calibri"/>
                <a:cs typeface="Calibri"/>
                <a:sym typeface="Calibri"/>
              </a:rPr>
              <a:t>Ranking quality vs calibration and where each model errors land</a:t>
            </a:r>
            <a:endParaRPr b="1" sz="2800">
              <a:solidFill>
                <a:srgbClr val="22303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fig_auc_recall_error.png" id="196" name="Google Shape;19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500000"/>
            <a:ext cx="11094720" cy="457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7"/>
          <p:cNvSpPr txBox="1"/>
          <p:nvPr/>
        </p:nvSpPr>
        <p:spPr>
          <a:xfrm>
            <a:off x="822960" y="6100000"/>
            <a:ext cx="10515600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5C6B73"/>
                </a:solidFill>
                <a:latin typeface="Calibri"/>
                <a:ea typeface="Calibri"/>
                <a:cs typeface="Calibri"/>
                <a:sym typeface="Calibri"/>
              </a:rPr>
              <a:t>High AUC + low fake-recall at threshold 0.5 = calibration problem, not a modelling failure. Only CNN and WavLM backbone sit in the target zone (top-right).</a:t>
            </a:r>
            <a:endParaRPr/>
          </a:p>
        </p:txBody>
      </p:sp>
      <p:sp>
        <p:nvSpPr>
          <p:cNvPr id="198" name="Google Shape;198;p17"/>
          <p:cNvSpPr txBox="1"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6B7B85"/>
                </a:solidFill>
                <a:latin typeface="Calibri"/>
                <a:ea typeface="Calibri"/>
                <a:cs typeface="Calibri"/>
                <a:sym typeface="Calibri"/>
              </a:rPr>
              <a:t>Audio Deepfake Detection — DL project</a:t>
            </a:r>
            <a:endParaRPr/>
          </a:p>
        </p:txBody>
      </p:sp>
      <p:sp>
        <p:nvSpPr>
          <p:cNvPr id="199" name="Google Shape;199;p17"/>
          <p:cNvSpPr txBox="1"/>
          <p:nvPr/>
        </p:nvSpPr>
        <p:spPr>
          <a:xfrm>
            <a:off x="11430000" y="6437376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6B7B85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8"/>
          <p:cNvSpPr/>
          <p:nvPr/>
        </p:nvSpPr>
        <p:spPr>
          <a:xfrm>
            <a:off x="548640" y="566928"/>
            <a:ext cx="146304" cy="457200"/>
          </a:xfrm>
          <a:prstGeom prst="rect">
            <a:avLst/>
          </a:prstGeom>
          <a:solidFill>
            <a:srgbClr val="0E959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8"/>
          <p:cNvSpPr/>
          <p:nvPr/>
        </p:nvSpPr>
        <p:spPr>
          <a:xfrm>
            <a:off x="822960" y="310896"/>
            <a:ext cx="10515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9594"/>
              </a:buClr>
              <a:buSzPts val="1200"/>
              <a:buFont typeface="Trebuchet MS"/>
              <a:buNone/>
            </a:pPr>
            <a:r>
              <a:rPr b="1" lang="en-US" sz="1200">
                <a:solidFill>
                  <a:srgbClr val="0E9594"/>
                </a:solidFill>
                <a:latin typeface="Trebuchet MS"/>
                <a:ea typeface="Trebuchet MS"/>
                <a:cs typeface="Trebuchet MS"/>
                <a:sym typeface="Trebuchet MS"/>
              </a:rPr>
              <a:t>RESULTS · DIAGNOSIS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8"/>
          <p:cNvSpPr/>
          <p:nvPr/>
        </p:nvSpPr>
        <p:spPr>
          <a:xfrm>
            <a:off x="822960" y="566928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22303A"/>
                </a:solidFill>
                <a:latin typeface="Trebuchet MS"/>
                <a:ea typeface="Trebuchet MS"/>
                <a:cs typeface="Trebuchet MS"/>
                <a:sym typeface="Trebuchet MS"/>
              </a:rPr>
              <a:t>Architecture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2800">
                <a:solidFill>
                  <a:srgbClr val="22303A"/>
                </a:solidFill>
                <a:latin typeface="Trebuchet MS"/>
                <a:ea typeface="Trebuchet MS"/>
                <a:cs typeface="Trebuchet MS"/>
                <a:sym typeface="Trebuchet MS"/>
              </a:rPr>
              <a:t>Generalisation gap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8"/>
          <p:cNvSpPr/>
          <p:nvPr/>
        </p:nvSpPr>
        <p:spPr>
          <a:xfrm>
            <a:off x="8138160" y="1691640"/>
            <a:ext cx="3596335" cy="4206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2303A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22303A"/>
                </a:solidFill>
                <a:latin typeface="Calibri"/>
                <a:ea typeface="Calibri"/>
                <a:cs typeface="Calibri"/>
                <a:sym typeface="Calibri"/>
              </a:rPr>
              <a:t>Fine-tuned WavLM: near-perfect FoR (AUC ~0.99) but the biggest ITW drop.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22303A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22303A"/>
                </a:solidFill>
                <a:latin typeface="Calibri"/>
                <a:ea typeface="Calibri"/>
                <a:cs typeface="Calibri"/>
                <a:sym typeface="Calibri"/>
              </a:rPr>
              <a:t>Frozen backbone transfers best smallest gap, highest ITW.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22303A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22303A"/>
                </a:solidFill>
                <a:latin typeface="Calibri"/>
                <a:ea typeface="Calibri"/>
                <a:cs typeface="Calibri"/>
                <a:sym typeface="Calibri"/>
              </a:rPr>
              <a:t>Under these circumstances, freezing the backbone can beat fine-tuning.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8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B85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B85"/>
                </a:solidFill>
                <a:latin typeface="Calibri"/>
                <a:ea typeface="Calibri"/>
                <a:cs typeface="Calibri"/>
                <a:sym typeface="Calibri"/>
              </a:rPr>
              <a:t>Audio Deepfake Detection — DL project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8"/>
          <p:cNvSpPr/>
          <p:nvPr/>
        </p:nvSpPr>
        <p:spPr>
          <a:xfrm>
            <a:off x="11430000" y="6437376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B85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B85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fig_gen_gap.png" id="211" name="Google Shape;21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1783080"/>
            <a:ext cx="7132320" cy="3840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9"/>
          <p:cNvSpPr/>
          <p:nvPr/>
        </p:nvSpPr>
        <p:spPr>
          <a:xfrm>
            <a:off x="548640" y="566928"/>
            <a:ext cx="146304" cy="457200"/>
          </a:xfrm>
          <a:prstGeom prst="rect">
            <a:avLst/>
          </a:prstGeom>
          <a:solidFill>
            <a:srgbClr val="0E959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9"/>
          <p:cNvSpPr/>
          <p:nvPr/>
        </p:nvSpPr>
        <p:spPr>
          <a:xfrm>
            <a:off x="822960" y="310896"/>
            <a:ext cx="10515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9594"/>
              </a:buClr>
              <a:buSzPts val="1200"/>
              <a:buFont typeface="Trebuchet MS"/>
              <a:buNone/>
            </a:pPr>
            <a:r>
              <a:rPr b="1" lang="en-US" sz="1200">
                <a:solidFill>
                  <a:srgbClr val="0E9594"/>
                </a:solidFill>
                <a:latin typeface="Trebuchet MS"/>
                <a:ea typeface="Trebuchet MS"/>
                <a:cs typeface="Trebuchet MS"/>
                <a:sym typeface="Trebuchet MS"/>
              </a:rPr>
              <a:t>NOISE ROBUSTNESS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9"/>
          <p:cNvSpPr/>
          <p:nvPr/>
        </p:nvSpPr>
        <p:spPr>
          <a:xfrm>
            <a:off x="822960" y="566928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03A"/>
              </a:buClr>
              <a:buSzPts val="2800"/>
              <a:buFont typeface="Trebuchet MS"/>
              <a:buNone/>
            </a:pPr>
            <a:r>
              <a:rPr b="1" lang="en-US" sz="2800">
                <a:solidFill>
                  <a:srgbClr val="22303A"/>
                </a:solidFill>
                <a:latin typeface="Trebuchet MS"/>
                <a:ea typeface="Trebuchet MS"/>
                <a:cs typeface="Trebuchet MS"/>
                <a:sym typeface="Trebuchet MS"/>
              </a:rPr>
              <a:t>Augmentation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9"/>
          <p:cNvSpPr/>
          <p:nvPr/>
        </p:nvSpPr>
        <p:spPr>
          <a:xfrm>
            <a:off x="548650" y="1262963"/>
            <a:ext cx="5212200" cy="1114200"/>
          </a:xfrm>
          <a:prstGeom prst="roundRect">
            <a:avLst>
              <a:gd fmla="val 2917" name="adj"/>
            </a:avLst>
          </a:prstGeom>
          <a:solidFill>
            <a:srgbClr val="F4F7F8"/>
          </a:solidFill>
          <a:ln cap="flat" cmpd="sng" w="12700">
            <a:solidFill>
              <a:srgbClr val="DDE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9"/>
          <p:cNvSpPr/>
          <p:nvPr/>
        </p:nvSpPr>
        <p:spPr>
          <a:xfrm flipH="1">
            <a:off x="548643" y="1262963"/>
            <a:ext cx="53100" cy="1114200"/>
          </a:xfrm>
          <a:prstGeom prst="rect">
            <a:avLst/>
          </a:prstGeom>
          <a:solidFill>
            <a:srgbClr val="0E959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9"/>
          <p:cNvSpPr/>
          <p:nvPr/>
        </p:nvSpPr>
        <p:spPr>
          <a:xfrm>
            <a:off x="822980" y="1400133"/>
            <a:ext cx="4755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03A"/>
              </a:buClr>
              <a:buSzPts val="1500"/>
              <a:buFont typeface="Trebuchet MS"/>
              <a:buNone/>
            </a:pPr>
            <a:r>
              <a:rPr b="1" lang="en-US" sz="1500">
                <a:solidFill>
                  <a:srgbClr val="22303A"/>
                </a:solidFill>
                <a:latin typeface="Trebuchet MS"/>
                <a:ea typeface="Trebuchet MS"/>
                <a:cs typeface="Trebuchet MS"/>
                <a:sym typeface="Trebuchet MS"/>
              </a:rPr>
              <a:t>T</a:t>
            </a:r>
            <a:r>
              <a:rPr b="1" lang="en-US" sz="1500">
                <a:solidFill>
                  <a:srgbClr val="22303A"/>
                </a:solidFill>
                <a:latin typeface="Trebuchet MS"/>
                <a:ea typeface="Trebuchet MS"/>
                <a:cs typeface="Trebuchet MS"/>
                <a:sym typeface="Trebuchet MS"/>
              </a:rPr>
              <a:t>raining-side</a:t>
            </a:r>
            <a:endParaRPr b="1" sz="1500">
              <a:solidFill>
                <a:srgbClr val="22303A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03A"/>
              </a:buClr>
              <a:buSzPts val="1500"/>
              <a:buFont typeface="Trebuchet MS"/>
              <a:buNone/>
            </a:pPr>
            <a:r>
              <a:t/>
            </a:r>
            <a:endParaRPr b="1" sz="1500">
              <a:solidFill>
                <a:srgbClr val="22303A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23" name="Google Shape;223;p19"/>
          <p:cNvSpPr/>
          <p:nvPr/>
        </p:nvSpPr>
        <p:spPr>
          <a:xfrm>
            <a:off x="822975" y="1643613"/>
            <a:ext cx="47091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750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3A4750"/>
                </a:solidFill>
                <a:latin typeface="Calibri"/>
                <a:ea typeface="Calibri"/>
                <a:cs typeface="Calibri"/>
                <a:sym typeface="Calibri"/>
              </a:rPr>
              <a:t>Online waveform augmentation in the WavLM fine-tune: MUSAN additive noise (0–15 dB SNR), simulated-RIR reverberation, and codec compression — applied to the train split only (no leakage).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9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B85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B85"/>
                </a:solidFill>
                <a:latin typeface="Calibri"/>
                <a:ea typeface="Calibri"/>
                <a:cs typeface="Calibri"/>
                <a:sym typeface="Calibri"/>
              </a:rPr>
              <a:t>Audio Deepfake Detection — DL project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9"/>
          <p:cNvSpPr/>
          <p:nvPr/>
        </p:nvSpPr>
        <p:spPr>
          <a:xfrm>
            <a:off x="11430000" y="6437376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B85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B85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6" name="Google Shape;22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33988" y="2720076"/>
            <a:ext cx="6924013" cy="3281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2B3A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E959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0"/>
          <p:cNvSpPr/>
          <p:nvPr/>
        </p:nvSpPr>
        <p:spPr>
          <a:xfrm>
            <a:off x="822960" y="502920"/>
            <a:ext cx="10058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Trebuchet MS"/>
              <a:buNone/>
            </a:pPr>
            <a:r>
              <a:rPr b="1" lang="en-US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Conclusions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0"/>
          <p:cNvSpPr/>
          <p:nvPr/>
        </p:nvSpPr>
        <p:spPr>
          <a:xfrm>
            <a:off x="868680" y="1554480"/>
            <a:ext cx="1042416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EAF1F5"/>
              </a:buClr>
              <a:buSzPts val="1600"/>
              <a:buFont typeface="Calibri"/>
              <a:buChar char="•"/>
            </a:pPr>
            <a:r>
              <a:rPr lang="en-US" sz="1600">
                <a:solidFill>
                  <a:srgbClr val="EAF1F5"/>
                </a:solidFill>
                <a:latin typeface="Calibri"/>
                <a:ea typeface="Calibri"/>
                <a:cs typeface="Calibri"/>
                <a:sym typeface="Calibri"/>
              </a:rPr>
              <a:t>Representation learning drives cross-dataset AUC: MLP 0.79 → CNN/CRNN 0.86–0.87 → WavLM 0.92.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100"/>
              </a:spcBef>
              <a:spcAft>
                <a:spcPts val="0"/>
              </a:spcAft>
              <a:buClr>
                <a:srgbClr val="EAF1F5"/>
              </a:buClr>
              <a:buSzPts val="1600"/>
              <a:buFont typeface="Calibri"/>
              <a:buChar char="•"/>
            </a:pPr>
            <a:r>
              <a:rPr lang="en-US" sz="1600">
                <a:solidFill>
                  <a:srgbClr val="EAF1F5"/>
                </a:solidFill>
                <a:latin typeface="Calibri"/>
                <a:ea typeface="Calibri"/>
                <a:cs typeface="Calibri"/>
                <a:sym typeface="Calibri"/>
              </a:rPr>
              <a:t>MLP/RNN catch only ~17% of fakes despite passable accuracy.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100"/>
              </a:spcBef>
              <a:spcAft>
                <a:spcPts val="0"/>
              </a:spcAft>
              <a:buClr>
                <a:srgbClr val="EAF1F5"/>
              </a:buClr>
              <a:buSzPts val="1600"/>
              <a:buFont typeface="Calibri"/>
              <a:buChar char="•"/>
            </a:pPr>
            <a:r>
              <a:rPr lang="en-US" sz="1600">
                <a:solidFill>
                  <a:srgbClr val="EAF1F5"/>
                </a:solidFill>
                <a:latin typeface="Calibri"/>
                <a:ea typeface="Calibri"/>
                <a:cs typeface="Calibri"/>
                <a:sym typeface="Calibri"/>
              </a:rPr>
              <a:t>Convolution carries the recurrent path: pure BiLSTM 0.66 vs CRNN 0.86.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100"/>
              </a:spcBef>
              <a:spcAft>
                <a:spcPts val="0"/>
              </a:spcAft>
              <a:buClr>
                <a:srgbClr val="EAF1F5"/>
              </a:buClr>
              <a:buSzPts val="1600"/>
              <a:buFont typeface="Calibri"/>
              <a:buChar char="•"/>
            </a:pPr>
            <a:r>
              <a:rPr lang="en-US" sz="1600">
                <a:solidFill>
                  <a:srgbClr val="EAF1F5"/>
                </a:solidFill>
                <a:latin typeface="Calibri"/>
                <a:ea typeface="Calibri"/>
                <a:cs typeface="Calibri"/>
                <a:sym typeface="Calibri"/>
              </a:rPr>
              <a:t>Tune capacity &amp; regularisation — don't maximise them; middle settings generalise best.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100"/>
              </a:spcBef>
              <a:spcAft>
                <a:spcPts val="0"/>
              </a:spcAft>
              <a:buClr>
                <a:srgbClr val="EAF1F5"/>
              </a:buClr>
              <a:buSzPts val="1600"/>
              <a:buFont typeface="Calibri"/>
              <a:buChar char="•"/>
            </a:pPr>
            <a:r>
              <a:rPr lang="en-US" sz="1600">
                <a:solidFill>
                  <a:srgbClr val="EAF1F5"/>
                </a:solidFill>
                <a:latin typeface="Calibri"/>
                <a:ea typeface="Calibri"/>
                <a:cs typeface="Calibri"/>
                <a:sym typeface="Calibri"/>
              </a:rPr>
              <a:t>Under domain shift, freezing the WavLM backbone beats fine-tuning; the cue sits in a mid layer.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100"/>
              </a:spcBef>
              <a:spcAft>
                <a:spcPts val="0"/>
              </a:spcAft>
              <a:buClr>
                <a:srgbClr val="CADCFC"/>
              </a:buClr>
              <a:buSzPts val="1600"/>
              <a:buFont typeface="Calibri"/>
              <a:buChar char="•"/>
            </a:pPr>
            <a:r>
              <a:rPr lang="en-US" sz="16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Future Evaluations</a:t>
            </a:r>
            <a:r>
              <a:rPr lang="en-US" sz="16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: evaluation-side noise-robustness curves, EER, and multi-seed error bars.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0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B85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B85"/>
                </a:solidFill>
                <a:latin typeface="Calibri"/>
                <a:ea typeface="Calibri"/>
                <a:cs typeface="Calibri"/>
                <a:sym typeface="Calibri"/>
              </a:rPr>
              <a:t>Audio Deepfake Detection — DL project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0"/>
          <p:cNvSpPr/>
          <p:nvPr/>
        </p:nvSpPr>
        <p:spPr>
          <a:xfrm>
            <a:off x="11430000" y="6437376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B85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B85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