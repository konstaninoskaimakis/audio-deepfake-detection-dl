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73" r:id="rId6"/>
    <p:sldId id="260" r:id="rId7"/>
    <p:sldId id="261" r:id="rId8"/>
    <p:sldId id="263" r:id="rId9"/>
    <p:sldId id="262" r:id="rId10"/>
    <p:sldId id="272" r:id="rId11"/>
    <p:sldId id="264" r:id="rId12"/>
    <p:sldId id="265" r:id="rId13"/>
    <p:sldId id="266" r:id="rId14"/>
    <p:sldId id="271" r:id="rId15"/>
    <p:sldId id="268" r:id="rId16"/>
    <p:sldId id="269" r:id="rId17"/>
    <p:sldId id="270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3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9842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8734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07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20574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kern="0" spc="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 DEEPFAKE </a:t>
            </a:r>
            <a:r>
              <a:rPr lang="en-US" sz="4000" b="1" kern="0" spc="100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IN SPEECH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30632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 smtClean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comparison </a:t>
            </a: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deep-learning architectures for real-vs-fake speech, with cross-dataset </a:t>
            </a:r>
            <a:r>
              <a:rPr lang="en-US" sz="1800" dirty="0" smtClean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4328021"/>
            <a:ext cx="7973238" cy="420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smtClean="0">
                <a:solidFill>
                  <a:schemeClr val="bg1"/>
                </a:solidFill>
              </a:rPr>
              <a:t>2</a:t>
            </a:r>
            <a:r>
              <a:rPr lang="en-US" baseline="30000" dirty="0" smtClean="0">
                <a:solidFill>
                  <a:schemeClr val="bg1"/>
                </a:solidFill>
              </a:rPr>
              <a:t>nd</a:t>
            </a:r>
            <a:r>
              <a:rPr lang="en-US" dirty="0" smtClean="0">
                <a:solidFill>
                  <a:schemeClr val="bg1"/>
                </a:solidFill>
              </a:rPr>
              <a:t> Semester Deep </a:t>
            </a:r>
            <a:r>
              <a:rPr lang="en-US" dirty="0">
                <a:solidFill>
                  <a:schemeClr val="bg1"/>
                </a:solidFill>
              </a:rPr>
              <a:t>Learning P</a:t>
            </a:r>
            <a:r>
              <a:rPr lang="en-US" dirty="0" smtClean="0">
                <a:solidFill>
                  <a:schemeClr val="bg1"/>
                </a:solidFill>
              </a:rPr>
              <a:t>roject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4715198"/>
            <a:ext cx="1020750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chemeClr val="bg1"/>
                </a:solidFill>
              </a:rPr>
              <a:t>George </a:t>
            </a:r>
            <a:r>
              <a:rPr sz="1600" b="0" dirty="0" err="1">
                <a:solidFill>
                  <a:schemeClr val="bg1"/>
                </a:solidFill>
              </a:rPr>
              <a:t>Nazos</a:t>
            </a:r>
            <a:r>
              <a:rPr sz="1600" b="0" dirty="0">
                <a:solidFill>
                  <a:schemeClr val="bg1"/>
                </a:solidFill>
              </a:rPr>
              <a:t>  MTN2519     |     Konstantinos Kaimakis  MTN2508</a:t>
            </a:r>
          </a:p>
          <a:p>
            <a:r>
              <a:rPr sz="1200" b="0" dirty="0">
                <a:solidFill>
                  <a:schemeClr val="bg1"/>
                </a:solidFill>
              </a:rPr>
              <a:t>MSc Artificial Intelligence  ·  NSCR </a:t>
            </a:r>
            <a:r>
              <a:rPr sz="1200" b="0" dirty="0" err="1">
                <a:solidFill>
                  <a:schemeClr val="bg1"/>
                </a:solidFill>
              </a:rPr>
              <a:t>Demokritos</a:t>
            </a:r>
            <a:r>
              <a:rPr sz="1200" b="0" dirty="0">
                <a:solidFill>
                  <a:schemeClr val="bg1"/>
                </a:solidFill>
              </a:rPr>
              <a:t> &amp; UNIPI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65836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speech is now near-indistinguishable from real, enabling fraud and disinformation.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 is not in-domain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generalising to unseen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generators data.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train on one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set (</a:t>
            </a:r>
            <a:r>
              <a:rPr lang="en-US" sz="1600" dirty="0" err="1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test on a completely independent one (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set is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class-imbalanced, 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alone is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misleading so 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fakes is what matters.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1812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818120" y="193852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31,779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001000" y="26700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 test clips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18120" y="333756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818120" y="34472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867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63% / 37%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001000" y="417880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/ fake split (imbalanced)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APPROACH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architecture 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families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5160874"/>
              </p:ext>
            </p:extLst>
          </p:nvPr>
        </p:nvGraphicFramePr>
        <p:xfrm>
          <a:off x="822960" y="1737360"/>
          <a:ext cx="10515600" cy="3200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3931920"/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hand-crafted features (MFCC, chroma, 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contrast, N_MFCC:20, N_FTT:128, HOP:256,</a:t>
                      </a:r>
                      <a:r>
                        <a:rPr lang="en-US" sz="1400" baseline="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N_MEL:128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features + shallow classifier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 err="1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-spectrogram (SR:16kHz,</a:t>
                      </a:r>
                      <a:r>
                        <a:rPr lang="en-US" sz="1400" baseline="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400" baseline="0" dirty="0" err="1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max_dur</a:t>
                      </a:r>
                      <a:r>
                        <a:rPr lang="en-US" sz="1400" baseline="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8.5s, N_FFT:1024 HOP:256, N_MELS:128)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2-D spectral features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RNN / CRNN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 err="1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-spectrogram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modelling, with / without a CNN block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WavLM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waveform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self-supervised 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with</a:t>
                      </a:r>
                      <a:r>
                        <a:rPr lang="en-US" sz="1400" baseline="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 classification head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</a:t>
                      </a: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frozen 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backbone </a:t>
                      </a: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fine-tune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1–3: focused one-axis sweeps (capacity, LR, </a:t>
            </a:r>
            <a:r>
              <a:rPr lang="en-US" sz="1300" i="1" dirty="0" err="1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regularisation</a:t>
            </a:r>
            <a:r>
              <a:rPr lang="en-US" sz="1300" i="1" dirty="0" smtClean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 </a:t>
            </a:r>
          </a:p>
          <a:p>
            <a:pPr marL="0" indent="0">
              <a:buNone/>
            </a:pPr>
            <a:r>
              <a:rPr lang="en-US" sz="1300" i="1" dirty="0" smtClean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</a:t>
            </a:r>
            <a:r>
              <a:rPr lang="en-US" sz="13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 an analysis of how to use a pretrained backbone.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&amp; 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Cross-dataset 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evaluation, </a:t>
            </a: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leakage control,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45920"/>
            <a:ext cx="521208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109728" cy="141732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21284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(for-norm) for 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(53.868 samples) </a:t>
            </a: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validation 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(4.634 samples).</a:t>
            </a:r>
          </a:p>
          <a:p>
            <a:pPr marL="0" indent="0">
              <a:buNone/>
            </a:pP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In-the-Wild (31.779 samples) for test only, so results measure true </a:t>
            </a:r>
            <a:r>
              <a:rPr lang="en-US" sz="1250" dirty="0" err="1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generalisation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02920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309360" y="1645920"/>
            <a:ext cx="109728" cy="1417320"/>
          </a:xfrm>
          <a:prstGeom prst="rect">
            <a:avLst/>
          </a:prstGeom>
          <a:solidFill>
            <a:srgbClr val="E867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imbalance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2212848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 is 63% real / 37% fake. We report per-class precision/recall/F1 and macro-F1, and treat fake-class recall as the operational metric.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3246120"/>
            <a:ext cx="521208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3246120"/>
            <a:ext cx="109728" cy="1417320"/>
          </a:xfrm>
          <a:prstGeom prst="rect">
            <a:avLst/>
          </a:prstGeom>
          <a:solidFill>
            <a:srgbClr val="3E7CB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097280" y="3383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Leakage control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97280" y="381304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kHz 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mono, </a:t>
            </a: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fixed-duration 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crop/pad</a:t>
            </a: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Feature scalers fit on clean training data only. 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</a:t>
            </a:r>
            <a:r>
              <a:rPr lang="en-US" sz="1250" dirty="0" err="1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WavLM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fine tuning, noise augmentation was </a:t>
            </a: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the train split only.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246120"/>
            <a:ext cx="502920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309360" y="3246120"/>
            <a:ext cx="109728" cy="1417320"/>
          </a:xfrm>
          <a:prstGeom prst="rect">
            <a:avLst/>
          </a:prstGeom>
          <a:solidFill>
            <a:srgbClr val="C997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58368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83680" y="3813048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(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primary), </a:t>
            </a: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macro-F1, per-class P/R/F1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22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0"/>
            <a:ext cx="45720" cy="6858000"/>
          </a:xfrm>
          <a:prstGeom prst="rect">
            <a:avLst/>
          </a:prstGeom>
          <a:solidFill>
            <a:srgbClr val="0E9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10896"/>
            <a:ext cx="105156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9594"/>
                </a:solidFill>
              </a:rPr>
              <a:t>ARCHITECTURE · SUMMARY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48000"/>
            <a:ext cx="11406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2303A"/>
                </a:solidFill>
              </a:rPr>
              <a:t>Baseline </a:t>
            </a:r>
            <a:r>
              <a:rPr sz="2000" b="1" dirty="0" smtClean="0">
                <a:solidFill>
                  <a:srgbClr val="22303A"/>
                </a:solidFill>
              </a:rPr>
              <a:t>configurations</a:t>
            </a:r>
            <a:endParaRPr sz="2000" b="1" dirty="0">
              <a:solidFill>
                <a:srgbClr val="22303A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02210" y="5655382"/>
            <a:ext cx="55922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dirty="0">
                <a:solidFill>
                  <a:srgbClr val="22303A"/>
                </a:solidFill>
              </a:rPr>
              <a:t>The MLP, CNN, RNN, and C-RNN Baseline Network Architectures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637030"/>
              </p:ext>
            </p:extLst>
          </p:nvPr>
        </p:nvGraphicFramePr>
        <p:xfrm>
          <a:off x="770238" y="1134214"/>
          <a:ext cx="10856200" cy="42067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946"/>
                <a:gridCol w="8364254"/>
              </a:tblGrid>
              <a:tr h="530897">
                <a:tc>
                  <a:txBody>
                    <a:bodyPr/>
                    <a:lstStyle/>
                    <a:p>
                      <a:endParaRPr dirty="0"/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/>
                        </a:rPr>
                        <a:t>Models</a:t>
                      </a:r>
                    </a:p>
                  </a:txBody>
                  <a:tcPr>
                    <a:solidFill>
                      <a:srgbClr val="22303A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/>
                        </a:rPr>
                        <a:t>Configuration</a:t>
                      </a:r>
                    </a:p>
                  </a:txBody>
                  <a:tcPr>
                    <a:solidFill>
                      <a:srgbClr val="22303A"/>
                    </a:solidFill>
                  </a:tcPr>
                </a:tc>
              </a:tr>
              <a:tr h="654436">
                <a:tc>
                  <a:txBody>
                    <a:bodyPr/>
                    <a:lstStyle/>
                    <a:p>
                      <a:endParaRPr/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22303A"/>
                          </a:solidFill>
                          <a:latin typeface="Times New Roman"/>
                        </a:rPr>
                        <a:t>MLP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2303A"/>
                          </a:solidFill>
                          <a:latin typeface="Times New Roman"/>
                        </a:rPr>
                        <a:t>3 ×</a:t>
                      </a:r>
                      <a:r>
                        <a:rPr lang="en-US" sz="1050" b="0" dirty="0">
                          <a:solidFill>
                            <a:srgbClr val="22303A"/>
                          </a:solidFill>
                          <a:latin typeface="Times New Roman"/>
                        </a:rPr>
                        <a:t> {Linear(256/128/64)  –  BN  –  ReLU  –  Dropout(0.5)}</a:t>
                      </a:r>
                    </a:p>
                    <a:p>
                      <a:pPr algn="ctr"/>
                      <a:r>
                        <a:rPr lang="en-US" sz="1050" b="1" dirty="0">
                          <a:solidFill>
                            <a:srgbClr val="22303A"/>
                          </a:solidFill>
                          <a:latin typeface="Times New Roman"/>
                        </a:rPr>
                        <a:t>1 ×</a:t>
                      </a:r>
                      <a:r>
                        <a:rPr lang="en-US" sz="1050" b="0" dirty="0">
                          <a:solidFill>
                            <a:srgbClr val="22303A"/>
                          </a:solidFill>
                          <a:latin typeface="Times New Roman"/>
                        </a:rPr>
                        <a:t> {Linear(1)  –  Sigmoid}</a:t>
                      </a:r>
                    </a:p>
                  </a:txBody>
                  <a:tcPr marL="100000" marR="100000" marT="55000" marB="55000" anchor="ctr">
                    <a:solidFill>
                      <a:srgbClr val="FFFFFF"/>
                    </a:solidFill>
                  </a:tcPr>
                </a:tc>
              </a:tr>
              <a:tr h="914533">
                <a:tc>
                  <a:txBody>
                    <a:bodyPr/>
                    <a:lstStyle/>
                    <a:p>
                      <a:endParaRPr/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22303A"/>
                          </a:solidFill>
                          <a:latin typeface="Times New Roman"/>
                        </a:rPr>
                        <a:t>CNN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2303A"/>
                          </a:solidFill>
                          <a:latin typeface="Times New Roman"/>
                        </a:rPr>
                        <a:t>3 ×</a:t>
                      </a:r>
                      <a:r>
                        <a:rPr lang="en-US" sz="1050" b="0" dirty="0">
                          <a:solidFill>
                            <a:srgbClr val="22303A"/>
                          </a:solidFill>
                          <a:latin typeface="Times New Roman"/>
                        </a:rPr>
                        <a:t> {Conv(32/64/128, k=3, p=1)  –  ReLU  –  AvgPool2d(k=2)  –  Dropout(0.5)}</a:t>
                      </a:r>
                    </a:p>
                    <a:p>
                      <a:pPr algn="ctr"/>
                      <a:r>
                        <a:rPr lang="en-US" sz="1050" b="1" dirty="0">
                          <a:solidFill>
                            <a:srgbClr val="22303A"/>
                          </a:solidFill>
                          <a:latin typeface="Times New Roman"/>
                        </a:rPr>
                        <a:t>1 ×</a:t>
                      </a:r>
                      <a:r>
                        <a:rPr lang="en-US" sz="1050" b="0" dirty="0">
                          <a:solidFill>
                            <a:srgbClr val="22303A"/>
                          </a:solidFill>
                          <a:latin typeface="Times New Roman"/>
                        </a:rPr>
                        <a:t> {Linear(128→256)  –  ReLU  –  Dropout(0.5)}</a:t>
                      </a:r>
                    </a:p>
                    <a:p>
                      <a:pPr algn="ctr"/>
                      <a:r>
                        <a:rPr lang="en-US" sz="1050" b="1" dirty="0">
                          <a:solidFill>
                            <a:srgbClr val="22303A"/>
                          </a:solidFill>
                          <a:latin typeface="Times New Roman"/>
                        </a:rPr>
                        <a:t>1 ×</a:t>
                      </a:r>
                      <a:r>
                        <a:rPr lang="en-US" sz="1050" b="0" dirty="0">
                          <a:solidFill>
                            <a:srgbClr val="22303A"/>
                          </a:solidFill>
                          <a:latin typeface="Times New Roman"/>
                        </a:rPr>
                        <a:t> {Linear(256→1)}</a:t>
                      </a:r>
                    </a:p>
                  </a:txBody>
                  <a:tcPr marL="100000" marR="100000" marT="55000" marB="55000" anchor="ctr">
                    <a:solidFill>
                      <a:srgbClr val="FFFFFF"/>
                    </a:solidFill>
                  </a:tcPr>
                </a:tc>
              </a:tr>
              <a:tr h="914533">
                <a:tc>
                  <a:txBody>
                    <a:bodyPr/>
                    <a:lstStyle/>
                    <a:p>
                      <a:endParaRPr/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22303A"/>
                          </a:solidFill>
                          <a:latin typeface="Times New Roman"/>
                        </a:rPr>
                        <a:t>RNN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2303A"/>
                          </a:solidFill>
                          <a:latin typeface="Times New Roman"/>
                        </a:rPr>
                        <a:t>2 ×</a:t>
                      </a:r>
                      <a:r>
                        <a:rPr lang="en-US" sz="1050" b="0" dirty="0">
                          <a:solidFill>
                            <a:srgbClr val="22303A"/>
                          </a:solidFill>
                          <a:latin typeface="Times New Roman"/>
                        </a:rPr>
                        <a:t> {BiLSTM(128/64, bidirectional)  –  ReLU  –  Dropout(0.5)}</a:t>
                      </a:r>
                    </a:p>
                    <a:p>
                      <a:pPr algn="ctr"/>
                      <a:r>
                        <a:rPr lang="en-US" sz="1050" b="1" dirty="0">
                          <a:solidFill>
                            <a:srgbClr val="22303A"/>
                          </a:solidFill>
                          <a:latin typeface="Times New Roman"/>
                        </a:rPr>
                        <a:t>1 ×</a:t>
                      </a:r>
                      <a:r>
                        <a:rPr lang="en-US" sz="1050" b="0" dirty="0">
                          <a:solidFill>
                            <a:srgbClr val="22303A"/>
                          </a:solidFill>
                          <a:latin typeface="Times New Roman"/>
                        </a:rPr>
                        <a:t> {Linear(128→256)  –  ReLU  –  Dropout(0.5)}</a:t>
                      </a:r>
                    </a:p>
                    <a:p>
                      <a:pPr algn="ctr"/>
                      <a:r>
                        <a:rPr lang="en-US" sz="1050" b="1" dirty="0">
                          <a:solidFill>
                            <a:srgbClr val="22303A"/>
                          </a:solidFill>
                          <a:latin typeface="Times New Roman"/>
                        </a:rPr>
                        <a:t>1 ×</a:t>
                      </a:r>
                      <a:r>
                        <a:rPr lang="en-US" sz="1050" b="0" dirty="0">
                          <a:solidFill>
                            <a:srgbClr val="22303A"/>
                          </a:solidFill>
                          <a:latin typeface="Times New Roman"/>
                        </a:rPr>
                        <a:t> {Linear(256→1)}</a:t>
                      </a:r>
                    </a:p>
                  </a:txBody>
                  <a:tcPr marL="100000" marR="100000" marT="55000" marB="55000" anchor="ctr">
                    <a:solidFill>
                      <a:srgbClr val="FFFFFF"/>
                    </a:solidFill>
                  </a:tcPr>
                </a:tc>
              </a:tr>
              <a:tr h="1174629">
                <a:tc>
                  <a:txBody>
                    <a:bodyPr/>
                    <a:lstStyle/>
                    <a:p>
                      <a:endParaRPr/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22303A"/>
                          </a:solidFill>
                          <a:latin typeface="Times New Roman"/>
                        </a:rPr>
                        <a:t>C-RNN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2303A"/>
                          </a:solidFill>
                          <a:latin typeface="Times New Roman"/>
                        </a:rPr>
                        <a:t>3 ×</a:t>
                      </a:r>
                      <a:r>
                        <a:rPr lang="en-US" sz="1050" b="0" dirty="0">
                          <a:solidFill>
                            <a:srgbClr val="22303A"/>
                          </a:solidFill>
                          <a:latin typeface="Times New Roman"/>
                        </a:rPr>
                        <a:t> {Conv(32/64/128, k=3, p=1)  –  ReLU  –  AvgPool2d(k=2)  –  Dropout(0.5)}</a:t>
                      </a:r>
                    </a:p>
                    <a:p>
                      <a:pPr algn="ctr"/>
                      <a:r>
                        <a:rPr lang="en-US" sz="1050" b="1" dirty="0">
                          <a:solidFill>
                            <a:srgbClr val="22303A"/>
                          </a:solidFill>
                          <a:latin typeface="Times New Roman"/>
                        </a:rPr>
                        <a:t>2 ×</a:t>
                      </a:r>
                      <a:r>
                        <a:rPr lang="en-US" sz="1050" b="0" dirty="0">
                          <a:solidFill>
                            <a:srgbClr val="22303A"/>
                          </a:solidFill>
                          <a:latin typeface="Times New Roman"/>
                        </a:rPr>
                        <a:t> {BiLSTM(128/64, bidirectional)  –  ReLU  –  Dropout(0.5)}</a:t>
                      </a:r>
                    </a:p>
                    <a:p>
                      <a:pPr algn="ctr"/>
                      <a:r>
                        <a:rPr lang="en-US" sz="1050" b="1" dirty="0">
                          <a:solidFill>
                            <a:srgbClr val="22303A"/>
                          </a:solidFill>
                          <a:latin typeface="Times New Roman"/>
                        </a:rPr>
                        <a:t>1 ×</a:t>
                      </a:r>
                      <a:r>
                        <a:rPr lang="en-US" sz="1050" b="0" dirty="0">
                          <a:solidFill>
                            <a:srgbClr val="22303A"/>
                          </a:solidFill>
                          <a:latin typeface="Times New Roman"/>
                        </a:rPr>
                        <a:t> {Linear(128→256)  –  ReLU  –  Dropout(0.5)}</a:t>
                      </a:r>
                    </a:p>
                    <a:p>
                      <a:pPr algn="ctr"/>
                      <a:r>
                        <a:rPr lang="en-US" sz="1050" b="1" dirty="0">
                          <a:solidFill>
                            <a:srgbClr val="22303A"/>
                          </a:solidFill>
                          <a:latin typeface="Times New Roman"/>
                        </a:rPr>
                        <a:t>1 ×</a:t>
                      </a:r>
                      <a:r>
                        <a:rPr lang="en-US" sz="1050" b="0" dirty="0">
                          <a:solidFill>
                            <a:srgbClr val="22303A"/>
                          </a:solidFill>
                          <a:latin typeface="Times New Roman"/>
                        </a:rPr>
                        <a:t> {Linear(256→1)}</a:t>
                      </a:r>
                    </a:p>
                  </a:txBody>
                  <a:tcPr marL="100000" marR="100000" marT="55000" marB="5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940000"/>
            <a:ext cx="11406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C6B73"/>
                </a:solidFill>
              </a:rPr>
              <a:t>AP = AvgPool2d(k=2, s=2)   ·   BN = BatchNorm1d   ·   BiLSTM hidden halves each layer (128→64)   ·   bidirectional output = 2 × hidden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578000"/>
            <a:ext cx="7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85"/>
                </a:solidFill>
              </a:rPr>
              <a:t>Audio Deepfake Detection — DL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42000" y="6578000"/>
            <a:ext cx="5486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7B85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246663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1 · MLP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Hand-crafted 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features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AUC ≈ 0.79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but the weakest learned model.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capacity hurts: wide/deep nets overfit FoR and transfer worse.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1e-3 wins on this low-dim feature space.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ceiling is the features, not the classifier.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050" b="1" dirty="0">
                <a:solidFill>
                  <a:srgbClr val="0E9594"/>
                </a:solidFill>
              </a:rPr>
              <a:t>Baseline </a:t>
            </a:r>
            <a:r>
              <a:rPr lang="en-US" sz="1050" b="1" dirty="0" err="1">
                <a:solidFill>
                  <a:srgbClr val="0E9594"/>
                </a:solidFill>
              </a:rPr>
              <a:t>config</a:t>
            </a:r>
            <a:endParaRPr lang="en-US" sz="1050" b="1" dirty="0">
              <a:solidFill>
                <a:srgbClr val="0E9594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Hidden layers: </a:t>
            </a:r>
            <a:r>
              <a:rPr lang="en-US" sz="1050" dirty="0">
                <a:solidFill>
                  <a:srgbClr val="22303A"/>
                </a:solidFill>
              </a:rPr>
              <a:t>[256, 128, 64]</a:t>
            </a:r>
          </a:p>
          <a:p>
            <a:r>
              <a:rPr lang="en-US" sz="1050" dirty="0">
                <a:solidFill>
                  <a:srgbClr val="5C6B73"/>
                </a:solidFill>
              </a:rPr>
              <a:t>Learning rate: </a:t>
            </a:r>
            <a:r>
              <a:rPr lang="en-US" sz="1050" dirty="0">
                <a:solidFill>
                  <a:srgbClr val="22303A"/>
                </a:solidFill>
              </a:rPr>
              <a:t>5e-4</a:t>
            </a:r>
          </a:p>
          <a:p>
            <a:r>
              <a:rPr lang="en-US" sz="1050" dirty="0">
                <a:solidFill>
                  <a:srgbClr val="5C6B73"/>
                </a:solidFill>
              </a:rPr>
              <a:t>Dropout / </a:t>
            </a:r>
            <a:r>
              <a:rPr lang="en-US" sz="1050" dirty="0" err="1">
                <a:solidFill>
                  <a:srgbClr val="5C6B73"/>
                </a:solidFill>
              </a:rPr>
              <a:t>wd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1050" b="1" dirty="0">
                <a:solidFill>
                  <a:srgbClr val="0E9594"/>
                </a:solidFill>
              </a:rPr>
              <a:t>AUC 0.769  |  fake-recall 12%</a:t>
            </a:r>
          </a:p>
          <a:p>
            <a:endParaRPr lang="en-US" sz="1050" b="1" dirty="0">
              <a:solidFill>
                <a:srgbClr val="0E9594"/>
              </a:solidFill>
            </a:endParaRPr>
          </a:p>
          <a:p>
            <a:r>
              <a:rPr lang="en-US" sz="1050" b="1" dirty="0">
                <a:solidFill>
                  <a:srgbClr val="C9971B"/>
                </a:solidFill>
              </a:rPr>
              <a:t>Best </a:t>
            </a:r>
            <a:r>
              <a:rPr lang="en-US" sz="1050" b="1" dirty="0" err="1">
                <a:solidFill>
                  <a:srgbClr val="C9971B"/>
                </a:solidFill>
              </a:rPr>
              <a:t>config</a:t>
            </a:r>
            <a:endParaRPr lang="en-US" sz="1050" b="1" dirty="0">
              <a:solidFill>
                <a:srgbClr val="C9971B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Hidden layers: </a:t>
            </a:r>
            <a:r>
              <a:rPr lang="en-US" sz="1050" dirty="0">
                <a:solidFill>
                  <a:srgbClr val="22303A"/>
                </a:solidFill>
              </a:rPr>
              <a:t>[256, 128, 64]</a:t>
            </a:r>
          </a:p>
          <a:p>
            <a:r>
              <a:rPr lang="en-US" sz="1050" b="1" dirty="0">
                <a:solidFill>
                  <a:srgbClr val="5C6B73"/>
                </a:solidFill>
              </a:rPr>
              <a:t>Learning rate: </a:t>
            </a:r>
            <a:r>
              <a:rPr lang="en-US" sz="1050" b="1" dirty="0" smtClean="0">
                <a:solidFill>
                  <a:srgbClr val="22303A"/>
                </a:solidFill>
              </a:rPr>
              <a:t>1e-3</a:t>
            </a:r>
            <a:endParaRPr lang="en-US" sz="1050" b="1" dirty="0">
              <a:solidFill>
                <a:srgbClr val="22303A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Dropout / </a:t>
            </a:r>
            <a:r>
              <a:rPr lang="en-US" sz="1050" dirty="0" err="1">
                <a:solidFill>
                  <a:srgbClr val="5C6B73"/>
                </a:solidFill>
              </a:rPr>
              <a:t>wd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1050" b="1" dirty="0">
                <a:solidFill>
                  <a:srgbClr val="C9971B"/>
                </a:solidFill>
              </a:rPr>
              <a:t>AUC 0.786  |  fake-recall 17%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pic>
        <p:nvPicPr>
          <p:cNvPr id="10" name="Picture 9" descr="fig_mlp_h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458" y="1435608"/>
            <a:ext cx="7825563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2 · CNN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 spectral 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features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AUC ≈ 0.87 / acc ≈ 0.83, and the best fake recall ≈ 72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sweet spot at 3 blocks; 2 collapses, 4 overfits.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Width: 32 channels ideal; 64 adds nothing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endParaRPr lang="en-US" sz="1400" dirty="0"/>
          </a:p>
          <a:p>
            <a:r>
              <a:rPr lang="en-US" sz="1050" b="1" dirty="0">
                <a:solidFill>
                  <a:srgbClr val="0E9594"/>
                </a:solidFill>
              </a:rPr>
              <a:t>Baseline </a:t>
            </a:r>
            <a:r>
              <a:rPr lang="en-US" sz="1050" b="1" dirty="0" err="1">
                <a:solidFill>
                  <a:srgbClr val="0E9594"/>
                </a:solidFill>
              </a:rPr>
              <a:t>config</a:t>
            </a:r>
            <a:endParaRPr lang="en-US" sz="1050" b="1" dirty="0">
              <a:solidFill>
                <a:srgbClr val="0E9594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Conv depth / </a:t>
            </a:r>
            <a:r>
              <a:rPr lang="en-US" sz="1050" dirty="0" err="1">
                <a:solidFill>
                  <a:srgbClr val="5C6B73"/>
                </a:solidFill>
              </a:rPr>
              <a:t>ch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3 blocks / 32 </a:t>
            </a:r>
            <a:r>
              <a:rPr lang="en-US" sz="1050" dirty="0" err="1">
                <a:solidFill>
                  <a:srgbClr val="22303A"/>
                </a:solidFill>
              </a:rPr>
              <a:t>ch</a:t>
            </a:r>
            <a:endParaRPr lang="en-US" sz="1050" dirty="0">
              <a:solidFill>
                <a:srgbClr val="22303A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Learning rate: </a:t>
            </a:r>
            <a:r>
              <a:rPr lang="en-US" sz="1050" dirty="0">
                <a:solidFill>
                  <a:srgbClr val="22303A"/>
                </a:solidFill>
              </a:rPr>
              <a:t>5e-4</a:t>
            </a:r>
          </a:p>
          <a:p>
            <a:r>
              <a:rPr lang="en-US" sz="1050" dirty="0">
                <a:solidFill>
                  <a:srgbClr val="5C6B73"/>
                </a:solidFill>
              </a:rPr>
              <a:t>Dropout / </a:t>
            </a:r>
            <a:r>
              <a:rPr lang="en-US" sz="1050" dirty="0" err="1">
                <a:solidFill>
                  <a:srgbClr val="5C6B73"/>
                </a:solidFill>
              </a:rPr>
              <a:t>wd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1050" dirty="0">
                <a:solidFill>
                  <a:srgbClr val="5C6B73"/>
                </a:solidFill>
              </a:rPr>
              <a:t>Note: </a:t>
            </a:r>
            <a:r>
              <a:rPr lang="en-US" sz="1050" dirty="0">
                <a:solidFill>
                  <a:srgbClr val="22303A"/>
                </a:solidFill>
              </a:rPr>
              <a:t>dropout 0.3 beats 0.5 at this </a:t>
            </a:r>
            <a:r>
              <a:rPr lang="en-US" sz="1050" dirty="0" err="1">
                <a:solidFill>
                  <a:srgbClr val="22303A"/>
                </a:solidFill>
              </a:rPr>
              <a:t>lr</a:t>
            </a:r>
            <a:endParaRPr lang="en-US" sz="1050" dirty="0">
              <a:solidFill>
                <a:srgbClr val="22303A"/>
              </a:solidFill>
            </a:endParaRPr>
          </a:p>
          <a:p>
            <a:r>
              <a:rPr lang="en-US" sz="1050" b="1" dirty="0">
                <a:solidFill>
                  <a:srgbClr val="0E9594"/>
                </a:solidFill>
              </a:rPr>
              <a:t>AUC 0.681  |  fake-recall 46%</a:t>
            </a:r>
          </a:p>
          <a:p>
            <a:endParaRPr lang="en-US" sz="1050" b="1" dirty="0">
              <a:solidFill>
                <a:srgbClr val="0E9594"/>
              </a:solidFill>
            </a:endParaRPr>
          </a:p>
          <a:p>
            <a:r>
              <a:rPr lang="en-US" sz="1050" b="1" dirty="0">
                <a:solidFill>
                  <a:srgbClr val="C9971B"/>
                </a:solidFill>
              </a:rPr>
              <a:t>Best </a:t>
            </a:r>
            <a:r>
              <a:rPr lang="en-US" sz="1050" b="1" dirty="0" err="1">
                <a:solidFill>
                  <a:srgbClr val="C9971B"/>
                </a:solidFill>
              </a:rPr>
              <a:t>config</a:t>
            </a:r>
            <a:endParaRPr lang="en-US" sz="1050" b="1" dirty="0">
              <a:solidFill>
                <a:srgbClr val="C9971B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Conv depth / </a:t>
            </a:r>
            <a:r>
              <a:rPr lang="en-US" sz="1050" dirty="0" err="1">
                <a:solidFill>
                  <a:srgbClr val="5C6B73"/>
                </a:solidFill>
              </a:rPr>
              <a:t>ch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3 blocks / 32 </a:t>
            </a:r>
            <a:r>
              <a:rPr lang="en-US" sz="1050" dirty="0" err="1">
                <a:solidFill>
                  <a:srgbClr val="22303A"/>
                </a:solidFill>
              </a:rPr>
              <a:t>ch</a:t>
            </a:r>
            <a:endParaRPr lang="en-US" sz="1050" dirty="0">
              <a:solidFill>
                <a:srgbClr val="22303A"/>
              </a:solidFill>
            </a:endParaRPr>
          </a:p>
          <a:p>
            <a:r>
              <a:rPr lang="en-US" sz="1050" b="1" dirty="0">
                <a:solidFill>
                  <a:srgbClr val="5C6B73"/>
                </a:solidFill>
              </a:rPr>
              <a:t>Learning rate: </a:t>
            </a:r>
            <a:r>
              <a:rPr lang="en-US" sz="1050" b="1" dirty="0" smtClean="0">
                <a:solidFill>
                  <a:srgbClr val="22303A"/>
                </a:solidFill>
              </a:rPr>
              <a:t>1e-3</a:t>
            </a:r>
            <a:endParaRPr lang="en-US" sz="1050" b="1" dirty="0">
              <a:solidFill>
                <a:srgbClr val="22303A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Dropout / </a:t>
            </a:r>
            <a:r>
              <a:rPr lang="en-US" sz="1050" dirty="0" err="1">
                <a:solidFill>
                  <a:srgbClr val="5C6B73"/>
                </a:solidFill>
              </a:rPr>
              <a:t>wd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1050" dirty="0">
                <a:solidFill>
                  <a:srgbClr val="5C6B73"/>
                </a:solidFill>
              </a:rPr>
              <a:t>Note: </a:t>
            </a:r>
            <a:r>
              <a:rPr lang="en-US" sz="1050" dirty="0" err="1">
                <a:solidFill>
                  <a:srgbClr val="22303A"/>
                </a:solidFill>
              </a:rPr>
              <a:t>lr×dropout</a:t>
            </a:r>
            <a:r>
              <a:rPr lang="en-US" sz="1050" dirty="0">
                <a:solidFill>
                  <a:srgbClr val="22303A"/>
                </a:solidFill>
              </a:rPr>
              <a:t> interaction: </a:t>
            </a:r>
            <a:r>
              <a:rPr lang="en-US" sz="1050" dirty="0" err="1">
                <a:solidFill>
                  <a:srgbClr val="22303A"/>
                </a:solidFill>
              </a:rPr>
              <a:t>lr</a:t>
            </a:r>
            <a:r>
              <a:rPr lang="en-US" sz="1050" dirty="0">
                <a:solidFill>
                  <a:srgbClr val="22303A"/>
                </a:solidFill>
              </a:rPr>
              <a:t> 1e-3 needs do 0.5</a:t>
            </a:r>
          </a:p>
          <a:p>
            <a:r>
              <a:rPr lang="en-US" sz="1050" b="1" dirty="0">
                <a:solidFill>
                  <a:srgbClr val="C9971B"/>
                </a:solidFill>
              </a:rPr>
              <a:t>AUC 0.870  |  fake-recall 72%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10" name="Picture 9" descr="fig_cnn_h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75" y="1344167"/>
            <a:ext cx="8028329" cy="43152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3 · RNN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Pure </a:t>
            </a:r>
            <a:r>
              <a:rPr lang="en-US" sz="2800" b="1" dirty="0" err="1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BiLSTM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One-axis sweeps around the baseline config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BiLSTM tops out at AUC ≈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barely above the MLP.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layers / wider hidden does not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help: it is bottlenecked by representation, not temporal capacity.</a:t>
            </a:r>
            <a:endParaRPr lang="en-US" sz="1400" dirty="0" smtClean="0"/>
          </a:p>
          <a:p>
            <a:endParaRPr lang="en-US" sz="1400" dirty="0" smtClean="0"/>
          </a:p>
          <a:p>
            <a:endParaRPr lang="en-US" sz="1400" dirty="0"/>
          </a:p>
          <a:p>
            <a:endParaRPr lang="en-US" sz="1400" dirty="0" smtClean="0"/>
          </a:p>
          <a:p>
            <a:endParaRPr lang="en-US" sz="1400" dirty="0"/>
          </a:p>
          <a:p>
            <a:r>
              <a:rPr lang="en-US" sz="1050" b="1" dirty="0">
                <a:solidFill>
                  <a:srgbClr val="0E9594"/>
                </a:solidFill>
              </a:rPr>
              <a:t>Baseline </a:t>
            </a:r>
            <a:r>
              <a:rPr lang="en-US" sz="1050" b="1" dirty="0" err="1">
                <a:solidFill>
                  <a:srgbClr val="0E9594"/>
                </a:solidFill>
              </a:rPr>
              <a:t>config</a:t>
            </a:r>
            <a:endParaRPr lang="en-US" sz="1050" b="1" dirty="0">
              <a:solidFill>
                <a:srgbClr val="0E9594"/>
              </a:solidFill>
            </a:endParaRPr>
          </a:p>
          <a:p>
            <a:r>
              <a:rPr lang="en-US" sz="1050" dirty="0" err="1">
                <a:solidFill>
                  <a:srgbClr val="5C6B73"/>
                </a:solidFill>
              </a:rPr>
              <a:t>BiLSTM</a:t>
            </a:r>
            <a:r>
              <a:rPr lang="en-US" sz="1050" dirty="0">
                <a:solidFill>
                  <a:srgbClr val="5C6B73"/>
                </a:solidFill>
              </a:rPr>
              <a:t> layers / h: </a:t>
            </a:r>
            <a:r>
              <a:rPr lang="en-US" sz="1050" dirty="0">
                <a:solidFill>
                  <a:srgbClr val="22303A"/>
                </a:solidFill>
              </a:rPr>
              <a:t>2 / 128</a:t>
            </a:r>
          </a:p>
          <a:p>
            <a:r>
              <a:rPr lang="en-US" sz="1050" dirty="0">
                <a:solidFill>
                  <a:srgbClr val="5C6B73"/>
                </a:solidFill>
              </a:rPr>
              <a:t>Learning rate: </a:t>
            </a:r>
            <a:r>
              <a:rPr lang="en-US" sz="1050" dirty="0">
                <a:solidFill>
                  <a:srgbClr val="22303A"/>
                </a:solidFill>
              </a:rPr>
              <a:t>5e-4</a:t>
            </a:r>
          </a:p>
          <a:p>
            <a:r>
              <a:rPr lang="en-US" sz="1050" dirty="0">
                <a:solidFill>
                  <a:srgbClr val="5C6B73"/>
                </a:solidFill>
              </a:rPr>
              <a:t>Dropout / </a:t>
            </a:r>
            <a:r>
              <a:rPr lang="en-US" sz="1050" dirty="0" err="1">
                <a:solidFill>
                  <a:srgbClr val="5C6B73"/>
                </a:solidFill>
              </a:rPr>
              <a:t>wd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1050" b="1" dirty="0">
                <a:solidFill>
                  <a:srgbClr val="0E9594"/>
                </a:solidFill>
              </a:rPr>
              <a:t>AUC 0.592  |  fake-recall 12%</a:t>
            </a:r>
          </a:p>
          <a:p>
            <a:endParaRPr lang="en-US" sz="1050" b="1" dirty="0">
              <a:solidFill>
                <a:srgbClr val="0E9594"/>
              </a:solidFill>
            </a:endParaRPr>
          </a:p>
          <a:p>
            <a:r>
              <a:rPr lang="en-US" sz="1050" b="1" dirty="0">
                <a:solidFill>
                  <a:srgbClr val="C9971B"/>
                </a:solidFill>
              </a:rPr>
              <a:t>Best </a:t>
            </a:r>
            <a:r>
              <a:rPr lang="en-US" sz="1050" b="1" dirty="0" err="1">
                <a:solidFill>
                  <a:srgbClr val="C9971B"/>
                </a:solidFill>
              </a:rPr>
              <a:t>config</a:t>
            </a:r>
            <a:endParaRPr lang="en-US" sz="1050" b="1" dirty="0">
              <a:solidFill>
                <a:srgbClr val="C9971B"/>
              </a:solidFill>
            </a:endParaRPr>
          </a:p>
          <a:p>
            <a:r>
              <a:rPr lang="en-US" sz="1050" dirty="0" err="1">
                <a:solidFill>
                  <a:srgbClr val="5C6B73"/>
                </a:solidFill>
              </a:rPr>
              <a:t>BiLSTM</a:t>
            </a:r>
            <a:r>
              <a:rPr lang="en-US" sz="1050" dirty="0">
                <a:solidFill>
                  <a:srgbClr val="5C6B73"/>
                </a:solidFill>
              </a:rPr>
              <a:t> layers / h: </a:t>
            </a:r>
            <a:r>
              <a:rPr lang="en-US" sz="1050" dirty="0">
                <a:solidFill>
                  <a:srgbClr val="22303A"/>
                </a:solidFill>
              </a:rPr>
              <a:t>1 </a:t>
            </a:r>
            <a:r>
              <a:rPr lang="en-US" sz="1050" dirty="0" smtClean="0">
                <a:solidFill>
                  <a:srgbClr val="22303A"/>
                </a:solidFill>
              </a:rPr>
              <a:t>/ 128 </a:t>
            </a:r>
            <a:endParaRPr lang="en-US" sz="1050" dirty="0">
              <a:solidFill>
                <a:srgbClr val="22303A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Learning rate: </a:t>
            </a:r>
            <a:r>
              <a:rPr lang="en-US" sz="1050" dirty="0">
                <a:solidFill>
                  <a:srgbClr val="22303A"/>
                </a:solidFill>
              </a:rPr>
              <a:t>5e-4</a:t>
            </a:r>
          </a:p>
          <a:p>
            <a:r>
              <a:rPr lang="en-US" sz="1050" dirty="0">
                <a:solidFill>
                  <a:srgbClr val="5C6B73"/>
                </a:solidFill>
              </a:rPr>
              <a:t>Dropout / </a:t>
            </a:r>
            <a:r>
              <a:rPr lang="en-US" sz="1050" dirty="0" err="1">
                <a:solidFill>
                  <a:srgbClr val="5C6B73"/>
                </a:solidFill>
              </a:rPr>
              <a:t>wd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1050" b="1" dirty="0">
                <a:solidFill>
                  <a:srgbClr val="C9971B"/>
                </a:solidFill>
              </a:rPr>
              <a:t>AUC 0.660  |  fake-recall 17%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10" name="Picture 9" descr="fig_rnn_h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3 · CRNN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Combining CNN &amp; RNN architectures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CRNN ≈ CNN (AUC ≈ 0.86): the CNN block does the heavy lifting.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conv depth 3, 32 ch, 2 BiLSTM layers, lr 5e-4.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LR (1e-3)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destabilizes the recurrent part of the model.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modelling adds little once convolution is present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spcAft>
                <a:spcPts val="900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 0.66 vs CRNN 0.86</a:t>
            </a:r>
            <a:endParaRPr lang="en-US" sz="1400" dirty="0"/>
          </a:p>
          <a:p>
            <a:endParaRPr lang="en-US" sz="1400" dirty="0"/>
          </a:p>
          <a:p>
            <a:r>
              <a:rPr lang="en-US" sz="1050" b="1" dirty="0">
                <a:solidFill>
                  <a:srgbClr val="0E9594"/>
                </a:solidFill>
              </a:rPr>
              <a:t>Baseline </a:t>
            </a:r>
            <a:r>
              <a:rPr lang="en-US" sz="1050" b="1" dirty="0" err="1">
                <a:solidFill>
                  <a:srgbClr val="0E9594"/>
                </a:solidFill>
              </a:rPr>
              <a:t>config</a:t>
            </a:r>
            <a:endParaRPr lang="en-US" sz="1050" b="1" dirty="0">
              <a:solidFill>
                <a:srgbClr val="0E9594"/>
              </a:solidFill>
            </a:endParaRPr>
          </a:p>
          <a:p>
            <a:r>
              <a:rPr lang="en-US" sz="1050" dirty="0">
                <a:solidFill>
                  <a:srgbClr val="5C6B73"/>
                </a:solidFill>
              </a:rPr>
              <a:t>CNN depth / </a:t>
            </a:r>
            <a:r>
              <a:rPr lang="en-US" sz="1050" dirty="0" err="1">
                <a:solidFill>
                  <a:srgbClr val="5C6B73"/>
                </a:solidFill>
              </a:rPr>
              <a:t>ch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3 blocks / 32 </a:t>
            </a:r>
            <a:r>
              <a:rPr lang="en-US" sz="1050" dirty="0" err="1">
                <a:solidFill>
                  <a:srgbClr val="22303A"/>
                </a:solidFill>
              </a:rPr>
              <a:t>ch</a:t>
            </a:r>
            <a:endParaRPr lang="en-US" sz="1050" dirty="0">
              <a:solidFill>
                <a:srgbClr val="22303A"/>
              </a:solidFill>
            </a:endParaRPr>
          </a:p>
          <a:p>
            <a:r>
              <a:rPr lang="en-US" sz="1050" dirty="0" err="1">
                <a:solidFill>
                  <a:srgbClr val="5C6B73"/>
                </a:solidFill>
              </a:rPr>
              <a:t>BiLSTM</a:t>
            </a:r>
            <a:r>
              <a:rPr lang="en-US" sz="1050" dirty="0">
                <a:solidFill>
                  <a:srgbClr val="5C6B73"/>
                </a:solidFill>
              </a:rPr>
              <a:t> layers / h: </a:t>
            </a:r>
            <a:r>
              <a:rPr lang="en-US" sz="1050" dirty="0">
                <a:solidFill>
                  <a:srgbClr val="22303A"/>
                </a:solidFill>
              </a:rPr>
              <a:t>2 / 128</a:t>
            </a:r>
          </a:p>
          <a:p>
            <a:r>
              <a:rPr lang="en-US" sz="1050" dirty="0">
                <a:solidFill>
                  <a:srgbClr val="5C6B73"/>
                </a:solidFill>
              </a:rPr>
              <a:t>Learning rate: </a:t>
            </a:r>
            <a:r>
              <a:rPr lang="en-US" sz="1050" dirty="0">
                <a:solidFill>
                  <a:srgbClr val="22303A"/>
                </a:solidFill>
              </a:rPr>
              <a:t>5e-4</a:t>
            </a:r>
          </a:p>
          <a:p>
            <a:r>
              <a:rPr lang="en-US" sz="1050" dirty="0">
                <a:solidFill>
                  <a:srgbClr val="5C6B73"/>
                </a:solidFill>
              </a:rPr>
              <a:t>Dropout / </a:t>
            </a:r>
            <a:r>
              <a:rPr lang="en-US" sz="1050" dirty="0" err="1">
                <a:solidFill>
                  <a:srgbClr val="5C6B73"/>
                </a:solidFill>
              </a:rPr>
              <a:t>wd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1050" b="1" dirty="0">
                <a:solidFill>
                  <a:srgbClr val="0E9594"/>
                </a:solidFill>
              </a:rPr>
              <a:t>AUC 0.860  |  fake-recall 54%</a:t>
            </a:r>
          </a:p>
          <a:p>
            <a:endParaRPr lang="en-US" sz="1050" b="1" dirty="0">
              <a:solidFill>
                <a:srgbClr val="0E9594"/>
              </a:solidFill>
            </a:endParaRPr>
          </a:p>
          <a:p>
            <a:r>
              <a:rPr lang="en-US" sz="1050" b="1" dirty="0">
                <a:solidFill>
                  <a:srgbClr val="C9971B"/>
                </a:solidFill>
              </a:rPr>
              <a:t>Best </a:t>
            </a:r>
            <a:r>
              <a:rPr lang="en-US" sz="1050" b="1" dirty="0" err="1">
                <a:solidFill>
                  <a:srgbClr val="C9971B"/>
                </a:solidFill>
              </a:rPr>
              <a:t>config</a:t>
            </a:r>
            <a:r>
              <a:rPr lang="en-US" sz="1050" b="1" dirty="0">
                <a:solidFill>
                  <a:srgbClr val="C9971B"/>
                </a:solidFill>
              </a:rPr>
              <a:t>  =  Baseline</a:t>
            </a:r>
          </a:p>
          <a:p>
            <a:r>
              <a:rPr lang="en-US" sz="1050" dirty="0" smtClean="0">
                <a:solidFill>
                  <a:srgbClr val="5C6B73"/>
                </a:solidFill>
              </a:rPr>
              <a:t>Note</a:t>
            </a:r>
            <a:r>
              <a:rPr lang="en-US" sz="1050" dirty="0">
                <a:solidFill>
                  <a:srgbClr val="5C6B73"/>
                </a:solidFill>
              </a:rPr>
              <a:t>: </a:t>
            </a:r>
            <a:r>
              <a:rPr lang="en-US" sz="1050" dirty="0">
                <a:solidFill>
                  <a:srgbClr val="22303A"/>
                </a:solidFill>
              </a:rPr>
              <a:t>Baseline is </a:t>
            </a:r>
            <a:r>
              <a:rPr lang="en-US" sz="1050" dirty="0" smtClean="0">
                <a:solidFill>
                  <a:srgbClr val="22303A"/>
                </a:solidFill>
              </a:rPr>
              <a:t>the optimum</a:t>
            </a:r>
            <a:endParaRPr lang="en-US" sz="1050" dirty="0">
              <a:solidFill>
                <a:srgbClr val="22303A"/>
              </a:solidFill>
            </a:endParaRPr>
          </a:p>
          <a:p>
            <a:r>
              <a:rPr lang="en-US" sz="1050" b="1" dirty="0">
                <a:solidFill>
                  <a:srgbClr val="C9971B"/>
                </a:solidFill>
              </a:rPr>
              <a:t>AUC 0.860  |  fake-recall 54%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10" name="Picture 9" descr="fig_crnn_h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628" y="1463040"/>
            <a:ext cx="7794642" cy="41896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4 · WAVLM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smtClean="0"/>
              <a:t>WAVLM Based Classifier Network</a:t>
            </a:r>
            <a:endParaRPr lang="en-US" sz="2800" b="1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560" y="1463040"/>
            <a:ext cx="10058400" cy="4993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793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4 · WAVLM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smtClean="0"/>
              <a:t>Pre-trained </a:t>
            </a:r>
            <a:r>
              <a:rPr lang="en-US" sz="2800" b="1" dirty="0" err="1" smtClean="0"/>
              <a:t>WavLM</a:t>
            </a:r>
            <a:r>
              <a:rPr lang="en-US" sz="2800" b="1" dirty="0" smtClean="0"/>
              <a:t> Transformer Layer weight distribution</a:t>
            </a:r>
            <a:endParaRPr lang="en-US" sz="2800" b="1" dirty="0"/>
          </a:p>
        </p:txBody>
      </p:sp>
      <p:sp>
        <p:nvSpPr>
          <p:cNvPr id="6" name="Text 3"/>
          <p:cNvSpPr/>
          <p:nvPr/>
        </p:nvSpPr>
        <p:spPr>
          <a:xfrm>
            <a:off x="7955280" y="1691640"/>
            <a:ext cx="377921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weighted sum over hidden layers + linear head.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~81% of weight on layer 3 of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layer is nearly ignored.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13-layer variant (incl. CNN embedding) agrees — same block.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layers specialise for content; mid layers keep the acoustic artefacts.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950" b="1" dirty="0">
                <a:solidFill>
                  <a:srgbClr val="0E9594"/>
                </a:solidFill>
              </a:rPr>
              <a:t>Frozen </a:t>
            </a:r>
            <a:r>
              <a:rPr lang="en-US" sz="950" b="1" dirty="0" smtClean="0">
                <a:solidFill>
                  <a:srgbClr val="0E9594"/>
                </a:solidFill>
              </a:rPr>
              <a:t>backbone </a:t>
            </a:r>
            <a:r>
              <a:rPr lang="en-US" sz="950" b="1" dirty="0" err="1">
                <a:solidFill>
                  <a:srgbClr val="0E9594"/>
                </a:solidFill>
              </a:rPr>
              <a:t>config</a:t>
            </a:r>
            <a:endParaRPr lang="en-US" sz="950" b="1" dirty="0">
              <a:solidFill>
                <a:srgbClr val="0E9594"/>
              </a:solidFill>
            </a:endParaRPr>
          </a:p>
          <a:p>
            <a:r>
              <a:rPr lang="en-US" sz="900" dirty="0">
                <a:solidFill>
                  <a:srgbClr val="5C6B73"/>
                </a:solidFill>
              </a:rPr>
              <a:t>Aggregation: </a:t>
            </a:r>
            <a:r>
              <a:rPr lang="en-US" sz="900" dirty="0" err="1">
                <a:solidFill>
                  <a:srgbClr val="22303A"/>
                </a:solidFill>
              </a:rPr>
              <a:t>Softmax</a:t>
            </a:r>
            <a:r>
              <a:rPr lang="en-US" sz="900" dirty="0">
                <a:solidFill>
                  <a:srgbClr val="22303A"/>
                </a:solidFill>
              </a:rPr>
              <a:t>-weighted sum, 12 layers</a:t>
            </a:r>
          </a:p>
          <a:p>
            <a:r>
              <a:rPr lang="en-US" sz="900" dirty="0">
                <a:solidFill>
                  <a:srgbClr val="5C6B73"/>
                </a:solidFill>
              </a:rPr>
              <a:t>Dominant layer: </a:t>
            </a:r>
            <a:r>
              <a:rPr lang="en-US" sz="900" dirty="0">
                <a:solidFill>
                  <a:srgbClr val="22303A"/>
                </a:solidFill>
              </a:rPr>
              <a:t>Layer 3 of 12  (~81% weight)</a:t>
            </a:r>
          </a:p>
          <a:p>
            <a:r>
              <a:rPr lang="en-US" sz="900" dirty="0">
                <a:solidFill>
                  <a:srgbClr val="5C6B73"/>
                </a:solidFill>
              </a:rPr>
              <a:t>Trainable </a:t>
            </a:r>
            <a:r>
              <a:rPr lang="en-US" sz="900" dirty="0" err="1">
                <a:solidFill>
                  <a:srgbClr val="5C6B73"/>
                </a:solidFill>
              </a:rPr>
              <a:t>params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~5K  (head only)</a:t>
            </a:r>
          </a:p>
          <a:p>
            <a:r>
              <a:rPr lang="en-US" sz="900" b="1" dirty="0">
                <a:solidFill>
                  <a:srgbClr val="0E9594"/>
                </a:solidFill>
              </a:rPr>
              <a:t>AUC 0.918  |  fake-recall 57%</a:t>
            </a:r>
          </a:p>
          <a:p>
            <a:endParaRPr lang="en-US" sz="900" b="1" dirty="0">
              <a:solidFill>
                <a:srgbClr val="0E9594"/>
              </a:solidFill>
            </a:endParaRPr>
          </a:p>
          <a:p>
            <a:r>
              <a:rPr lang="en-US" sz="950" b="1" dirty="0">
                <a:solidFill>
                  <a:srgbClr val="C9971B"/>
                </a:solidFill>
              </a:rPr>
              <a:t>Fine-tune best </a:t>
            </a:r>
            <a:r>
              <a:rPr lang="en-US" sz="950" b="1" dirty="0" err="1">
                <a:solidFill>
                  <a:srgbClr val="C9971B"/>
                </a:solidFill>
              </a:rPr>
              <a:t>config</a:t>
            </a:r>
            <a:endParaRPr lang="en-US" sz="950" b="1" dirty="0">
              <a:solidFill>
                <a:srgbClr val="C9971B"/>
              </a:solidFill>
            </a:endParaRPr>
          </a:p>
          <a:p>
            <a:r>
              <a:rPr lang="en-US" sz="900" dirty="0">
                <a:solidFill>
                  <a:srgbClr val="5C6B73"/>
                </a:solidFill>
              </a:rPr>
              <a:t>Unfrozen layers: </a:t>
            </a:r>
            <a:r>
              <a:rPr lang="en-US" sz="900" dirty="0">
                <a:solidFill>
                  <a:srgbClr val="22303A"/>
                </a:solidFill>
              </a:rPr>
              <a:t>Top 2 transformer blocks</a:t>
            </a:r>
          </a:p>
          <a:p>
            <a:r>
              <a:rPr lang="en-US" sz="900" dirty="0" err="1">
                <a:solidFill>
                  <a:srgbClr val="5C6B73"/>
                </a:solidFill>
              </a:rPr>
              <a:t>lr</a:t>
            </a:r>
            <a:r>
              <a:rPr lang="en-US" sz="900" dirty="0">
                <a:solidFill>
                  <a:srgbClr val="5C6B73"/>
                </a:solidFill>
              </a:rPr>
              <a:t> backbone / head: </a:t>
            </a:r>
            <a:r>
              <a:rPr lang="en-US" sz="900" dirty="0">
                <a:solidFill>
                  <a:srgbClr val="22303A"/>
                </a:solidFill>
              </a:rPr>
              <a:t>1e-5 / 1e-3</a:t>
            </a:r>
          </a:p>
          <a:p>
            <a:r>
              <a:rPr lang="en-US" sz="900" dirty="0">
                <a:solidFill>
                  <a:srgbClr val="5C6B73"/>
                </a:solidFill>
              </a:rPr>
              <a:t>Batch / </a:t>
            </a:r>
            <a:r>
              <a:rPr lang="en-US" sz="900" dirty="0" err="1">
                <a:solidFill>
                  <a:srgbClr val="5C6B73"/>
                </a:solidFill>
              </a:rPr>
              <a:t>wd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32 / 0.01</a:t>
            </a:r>
          </a:p>
          <a:p>
            <a:r>
              <a:rPr lang="en-US" sz="900" b="1" dirty="0">
                <a:solidFill>
                  <a:srgbClr val="C9971B"/>
                </a:solidFill>
              </a:rPr>
              <a:t>AUC 0.865  |  fake-recall 45%  (domain shift)</a:t>
            </a:r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9" name="Picture 8" descr="fig_wavlm_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28800"/>
            <a:ext cx="69494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69058" y="1691640"/>
            <a:ext cx="3657601" cy="4374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380735" y="1764982"/>
            <a:ext cx="3945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Frozen Backbone Layer Importance</a:t>
            </a:r>
            <a:endParaRPr lang="en-US" b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4 · WAVLM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Embeddings &amp; scores explain the cross-dataset gap</a:t>
            </a:r>
            <a:endParaRPr lang="en-US" sz="2800" dirty="0"/>
          </a:p>
        </p:txBody>
      </p:sp>
      <p:sp>
        <p:nvSpPr>
          <p:cNvPr id="9" name="Text 3"/>
          <p:cNvSpPr/>
          <p:nvPr/>
        </p:nvSpPr>
        <p:spPr>
          <a:xfrm>
            <a:off x="2519408" y="1157583"/>
            <a:ext cx="13501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FROZEN </a:t>
            </a:r>
            <a:r>
              <a:rPr lang="en-US" sz="1200" b="1" dirty="0" smtClean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backbone</a:t>
            </a:r>
            <a:endParaRPr lang="en-US" sz="1200" dirty="0"/>
          </a:p>
        </p:txBody>
      </p:sp>
      <p:sp>
        <p:nvSpPr>
          <p:cNvPr id="10" name="Text 4"/>
          <p:cNvSpPr/>
          <p:nvPr/>
        </p:nvSpPr>
        <p:spPr>
          <a:xfrm>
            <a:off x="8169880" y="1157583"/>
            <a:ext cx="1267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BEST FINE-TUNE</a:t>
            </a:r>
            <a:endParaRPr lang="en-US" sz="1200" dirty="0"/>
          </a:p>
        </p:txBody>
      </p:sp>
      <p:sp>
        <p:nvSpPr>
          <p:cNvPr id="11" name="Text 5"/>
          <p:cNvSpPr/>
          <p:nvPr/>
        </p:nvSpPr>
        <p:spPr>
          <a:xfrm>
            <a:off x="389919" y="5415911"/>
            <a:ext cx="11314401" cy="7789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UMAP: ITW </a:t>
            </a: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spread across the </a:t>
            </a:r>
            <a:r>
              <a:rPr lang="en-US" sz="135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</a:t>
            </a: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exactly why an in-domain threshold under-detects ITW fakes.</a:t>
            </a:r>
            <a:endParaRPr lang="en-US" sz="1350" dirty="0"/>
          </a:p>
        </p:txBody>
      </p:sp>
      <p:sp>
        <p:nvSpPr>
          <p:cNvPr id="12" name="Text 6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3" name="Text 7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94337"/>
            <a:ext cx="4743078" cy="3873514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4985" y="1394337"/>
            <a:ext cx="4743078" cy="38735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Cross-dataset performance by model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AUC: </a:t>
            </a:r>
            <a:r>
              <a:rPr lang="en-US" sz="1400" dirty="0" err="1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WavLM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(pre-trained) (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0.92) &gt; CNN (0.87) ≈ CRNN (0.86) &gt; WavLM ft (0.86) &gt; MLP (0.79) &gt; RNN (0.66).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learning drives the ranking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cs typeface="Calibri" pitchFamily="34" charset="-120"/>
              </a:rPr>
              <a:t>Fine tuning is constrained by the training data.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fake class recall must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considered.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9" name="Picture 8" descr="fig_result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9164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594"/>
                </a:solidFill>
              </a:rPr>
              <a:t>RESULTS · AUC VS FAKE RECALL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789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22303A"/>
                </a:solidFill>
              </a:rPr>
              <a:t>Ranking quality vs </a:t>
            </a:r>
            <a:r>
              <a:rPr sz="2800" b="1" dirty="0" smtClean="0">
                <a:solidFill>
                  <a:srgbClr val="22303A"/>
                </a:solidFill>
              </a:rPr>
              <a:t>calibration </a:t>
            </a:r>
            <a:r>
              <a:rPr sz="2800" b="1" dirty="0">
                <a:solidFill>
                  <a:srgbClr val="22303A"/>
                </a:solidFill>
              </a:rPr>
              <a:t>and where each model errors </a:t>
            </a:r>
            <a:r>
              <a:rPr lang="en-US" sz="2800" b="1" dirty="0" smtClean="0">
                <a:solidFill>
                  <a:srgbClr val="22303A"/>
                </a:solidFill>
              </a:rPr>
              <a:t>land</a:t>
            </a:r>
            <a:endParaRPr sz="2800" b="1" dirty="0">
              <a:solidFill>
                <a:srgbClr val="22303A"/>
              </a:solidFill>
            </a:endParaRPr>
          </a:p>
        </p:txBody>
      </p:sp>
      <p:pic>
        <p:nvPicPr>
          <p:cNvPr id="5" name="Picture 4" descr="fig_auc_recall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0000"/>
            <a:ext cx="1109472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100000"/>
            <a:ext cx="10515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dirty="0">
                <a:solidFill>
                  <a:srgbClr val="5C6B73"/>
                </a:solidFill>
              </a:rPr>
              <a:t>High AUC + low fake-recall at threshold 0.5 = calibration problem, not a modelling failure. Only CNN and </a:t>
            </a:r>
            <a:r>
              <a:rPr sz="1000" b="0" dirty="0" err="1">
                <a:solidFill>
                  <a:srgbClr val="5C6B73"/>
                </a:solidFill>
              </a:rPr>
              <a:t>WavLM</a:t>
            </a:r>
            <a:r>
              <a:rPr sz="1000" b="0" dirty="0">
                <a:solidFill>
                  <a:srgbClr val="5C6B73"/>
                </a:solidFill>
              </a:rPr>
              <a:t> </a:t>
            </a:r>
            <a:r>
              <a:rPr lang="en-US" sz="1000" b="0" dirty="0" smtClean="0">
                <a:solidFill>
                  <a:srgbClr val="5C6B73"/>
                </a:solidFill>
              </a:rPr>
              <a:t>backbone</a:t>
            </a:r>
            <a:r>
              <a:rPr sz="1000" b="0" dirty="0" smtClean="0">
                <a:solidFill>
                  <a:srgbClr val="5C6B73"/>
                </a:solidFill>
              </a:rPr>
              <a:t> </a:t>
            </a:r>
            <a:r>
              <a:rPr sz="1000" b="0" dirty="0">
                <a:solidFill>
                  <a:srgbClr val="5C6B73"/>
                </a:solidFill>
              </a:rPr>
              <a:t>sit in the target zone (top-right).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B85"/>
                </a:solidFill>
              </a:rPr>
              <a:t>Audio Deepfake Detection — DL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B85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· DIAGNOSIS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r>
              <a:rPr lang="en-US" sz="2800" dirty="0" smtClean="0"/>
              <a:t> </a:t>
            </a:r>
            <a:r>
              <a:rPr lang="en-US" sz="2800" b="1" dirty="0" err="1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Generalisation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gap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138160" y="1691640"/>
            <a:ext cx="359633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WavLM: near-perfect FoR (AUC ~0.99) but the biggest ITW drop.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best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gap, highest ITW.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circumstances,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the backbone can beat fine-tuning.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9" name="Picture 8" descr="fig_gen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83080"/>
            <a:ext cx="71323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NOISE ROBUSTNESS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Augmentation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737360"/>
            <a:ext cx="5212080" cy="2194560"/>
          </a:xfrm>
          <a:prstGeom prst="roundRect">
            <a:avLst>
              <a:gd name="adj" fmla="val 29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109728" cy="219456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9728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Done — training-side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304288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waveform augmentation in the WavLM fine-tune: MUSAN additive noise (0–15 dB SNR), simulated-RIR reverberation, and codec compression — applied to the train split only (no leakage).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5029200" cy="2194560"/>
          </a:xfrm>
          <a:prstGeom prst="roundRect">
            <a:avLst>
              <a:gd name="adj" fmla="val 29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109728" cy="2194560"/>
          </a:xfrm>
          <a:prstGeom prst="rect">
            <a:avLst/>
          </a:prstGeom>
          <a:solidFill>
            <a:srgbClr val="C997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58368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 — evaluation-side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2304288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 the TEST set at fixed SNRs (10 / 0 dB) + reverb and re-score every checkpoint → an AUC-vs-SNR degradation curve per architecture. Inference-only, using a held-out noise/RIR partition.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297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architecture degrades most gracefully under noise — and how much the augmentation helps — is the natural next experiment.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68680" y="155448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learning drives cross-dataset AUC: MLP 0.79 → CNN/CRNN 0.86–0.87 → WavLM 0.92.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 smtClean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MLP/RNN </a:t>
            </a: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only ~17% of fakes despite passable accuracy.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 carries the recurrent path: pure BiLSTM 0.66 vs CRNN 0.86.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capacity &amp; regularisation — don't maximise them; middle settings generalise best.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domain shift, freezing the WavLM backbone beats fine-tuning; the cue sits in a mid layer.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evaluation-side noise-robustness curves, EER, and multi-seed error bars.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1638</Words>
  <Application>Microsoft Office PowerPoint</Application>
  <PresentationFormat>Widescreen</PresentationFormat>
  <Paragraphs>252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Times New Roman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Audio Deepfake Detection</dc:title>
  <dc:subject>PptxGenJS Presentation</dc:subject>
  <dc:creator>George</dc:creator>
  <cp:lastModifiedBy>Microsoft account</cp:lastModifiedBy>
  <cp:revision>14</cp:revision>
  <dcterms:created xsi:type="dcterms:W3CDTF">2026-06-21T20:02:10Z</dcterms:created>
  <dcterms:modified xsi:type="dcterms:W3CDTF">2026-06-22T23:14:35Z</dcterms:modified>
</cp:coreProperties>
</file>