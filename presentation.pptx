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B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959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0574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1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AUDIO DEEPFAKE DETECTION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41248" y="306324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systematic comparison of deep-learning architectures for real-vs-fake speech, with cross-dataset evaluation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41248" y="41148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validate on Fake-or-Real (FoR)   </a:t>
            </a:r>
            <a:pPr indent="0" marL="0">
              <a:buNone/>
            </a:pPr>
            <a:r>
              <a:rPr lang="en-US" sz="1400" b="1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Test on In-the-Wild (ITW)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41248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E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course project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this problem, and why it's hard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1554480"/>
            <a:ext cx="658368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speech is now near-indistinguishable from real, enabling fraud and disinformation.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 part is not in-domain accuracy — it is generalising to unseen generators and recording conditions.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train on one corpus (FoR) and test on a completely independent one (ITW): an honest stress test.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set is class-imbalanced — accuracy alone is misleading; catching fakes is what matters.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18120" y="182880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18120" y="193852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31,779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8001000" y="267004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ITW test clips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18120" y="333756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18120" y="3447288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67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63% / 37%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8001000" y="417880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/ fake split (imbalanced)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APPROACH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Four architecture families, increasing learned representation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737360"/>
          <a:ext cx="10515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389120"/>
                <a:gridCol w="3931920"/>
              </a:tblGrid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B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B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B3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hand-crafted features (MFCC, chroma, contrast, ZCR)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classical features + shallow classifier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mel-spectrogram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learned 2-D spectral features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RNN / CRNN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mel-spectrogram (time series)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modelling, with / without a CNN front-end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WavLM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 waveform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230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self-supervised transformer: frozen probe vs fine-tune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52120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Families 1–3: focused one-axis sweeps (capacity, LR, regularisation) with interpretation.  Family 4: an analysis of how to use a pretrained backbone.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&amp; EVALUATION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Cross-dataset protocol, leakage control, metrics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1645920"/>
            <a:ext cx="5212080" cy="1417320"/>
          </a:xfrm>
          <a:prstGeom prst="roundRect">
            <a:avLst>
              <a:gd name="adj" fmla="val 4516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645920"/>
            <a:ext cx="109728" cy="1417320"/>
          </a:xfrm>
          <a:prstGeom prst="rect">
            <a:avLst/>
          </a:prstGeom>
          <a:solidFill>
            <a:srgbClr val="0E9594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Datasets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97280" y="2212848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(for-norm) for train + validation (in-domain); In-the-Wild for test only — an independent corpus, so results measure true generalisation.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645920"/>
            <a:ext cx="5029200" cy="1417320"/>
          </a:xfrm>
          <a:prstGeom prst="roundRect">
            <a:avLst>
              <a:gd name="adj" fmla="val 4516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1645920"/>
            <a:ext cx="109728" cy="1417320"/>
          </a:xfrm>
          <a:prstGeom prst="rect">
            <a:avLst/>
          </a:prstGeom>
          <a:solidFill>
            <a:srgbClr val="E8674F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 imbalance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0" y="2212848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ITW is 63% real / 37% fake. We report per-class precision/recall/F1 and macro-F1, and treat fake-class recall as the operational metric.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3246120"/>
            <a:ext cx="5212080" cy="1417320"/>
          </a:xfrm>
          <a:prstGeom prst="roundRect">
            <a:avLst>
              <a:gd name="adj" fmla="val 4516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246120"/>
            <a:ext cx="109728" cy="1417320"/>
          </a:xfrm>
          <a:prstGeom prst="rect">
            <a:avLst/>
          </a:prstGeom>
          <a:solidFill>
            <a:srgbClr val="3E7CB1"/>
          </a:solidFill>
          <a:ln/>
        </p:spPr>
      </p:sp>
      <p:sp>
        <p:nvSpPr>
          <p:cNvPr id="15" name="Text 13"/>
          <p:cNvSpPr/>
          <p:nvPr/>
        </p:nvSpPr>
        <p:spPr>
          <a:xfrm>
            <a:off x="1097280" y="33832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Leakage control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097280" y="3813048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kHz mono; fixed-duration crop/pad. Feature scalers fit on clean training data only. Noise augmentation applied to the train split only.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309360" y="3246120"/>
            <a:ext cx="5029200" cy="1417320"/>
          </a:xfrm>
          <a:prstGeom prst="roundRect">
            <a:avLst>
              <a:gd name="adj" fmla="val 4516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3246120"/>
            <a:ext cx="109728" cy="1417320"/>
          </a:xfrm>
          <a:prstGeom prst="rect">
            <a:avLst/>
          </a:prstGeom>
          <a:solidFill>
            <a:srgbClr val="C9971B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0" y="3383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Metrics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83680" y="3813048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 (primary, threshold-free), accuracy, macro-F1, per-class P/R/F1. EER noted as follow-up (per-sample scores not retained).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1 · MLP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Hand-crafted features set a hard ceiling</a:t>
            </a:r>
            <a:endParaRPr lang="en-US" sz="2800" dirty="0"/>
          </a:p>
        </p:txBody>
      </p:sp>
      <p:pic>
        <p:nvPicPr>
          <p:cNvPr id="5" name="Image 0" descr="/sessions/modest-trusting-fermi/mnt/outputs/slide_assets/mlp_eff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691640"/>
            <a:ext cx="7315200" cy="3931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56418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panel varies one hyperparameter, others fixed at baseline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321040" y="1691640"/>
            <a:ext cx="341345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AUC ≈ 0.79 — above chance but the weakest learned model.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capacity hurts: wide/deep nets overfit FoR and transfer worse.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rate dominates; 1e-3 wins on this low-dim feature space.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ceiling is the features, not the classifier.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2 · CNN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Learned spectral features — the strongest from-scratch model</a:t>
            </a:r>
            <a:endParaRPr lang="en-US" sz="2800" dirty="0"/>
          </a:p>
        </p:txBody>
      </p:sp>
      <p:pic>
        <p:nvPicPr>
          <p:cNvPr id="5" name="Image 0" descr="/sessions/modest-trusting-fermi/mnt/outputs/slide_assets/cnn_eff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691640"/>
            <a:ext cx="7315200" cy="3931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56418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One-axis sweeps around the baseline config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321040" y="1691640"/>
            <a:ext cx="341345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AUC ≈ 0.87 / acc ≈ 0.83, and the best fake recall (~72%).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sweet spot at 3 blocks; 2 collapses, 4 overfits.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Width: 32 channels ideal; 64 adds nothing.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decay 1e-3 is catastrophic — erases the cue; 1e-4 is right.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3 · CRNN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Adding a CNN front-end to the recurrent path</a:t>
            </a:r>
            <a:endParaRPr lang="en-US" sz="2800" dirty="0"/>
          </a:p>
        </p:txBody>
      </p:sp>
      <p:pic>
        <p:nvPicPr>
          <p:cNvPr id="5" name="Image 0" descr="/sessions/modest-trusting-fermi/mnt/outputs/slide_assets/crnn_eff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691640"/>
            <a:ext cx="7315200" cy="3931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56418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One-axis sweeps around the baseline config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321040" y="1691640"/>
            <a:ext cx="341345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CRNN ≈ CNN (AUC ≈ 0.86): the conv front-end does the heavy lifting.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Best: conv depth 3, 32 ch, 2 BiLSTM layers, lr 5e-4.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LR (1e-3) destabilises the recurrent path.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modelling adds little once convolution is present.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3 · RNN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Pure BiLSTM is weak — convolution is what matters</a:t>
            </a:r>
            <a:endParaRPr lang="en-US" sz="2800" dirty="0"/>
          </a:p>
        </p:txBody>
      </p:sp>
      <p:pic>
        <p:nvPicPr>
          <p:cNvPr id="5" name="Image 0" descr="/sessions/modest-trusting-fermi/mnt/outputs/slide_assets/rnn_eff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691640"/>
            <a:ext cx="7315200" cy="3931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56418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One-axis sweeps around the baseline config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321040" y="1691640"/>
            <a:ext cx="341345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BiLSTM tops out at AUC ≈ 0.66 — barely above the MLP.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layers / wider hidden does not help: it is bottlenecked by representation, not temporal capacity.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RNN 0.66 vs CRNN 0.86 — the discriminative work is convolutional, not recurrent.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4 · WAVLM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spoofing cue lives in an early-to-mid layer</a:t>
            </a:r>
            <a:endParaRPr lang="en-US" sz="2800" dirty="0"/>
          </a:p>
        </p:txBody>
      </p:sp>
      <p:pic>
        <p:nvPicPr>
          <p:cNvPr id="5" name="Image 0" descr="/sessions/modest-trusting-fermi/mnt/outputs/slide_assets/wavlm_laye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828800"/>
            <a:ext cx="6949440" cy="34747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955280" y="1691640"/>
            <a:ext cx="377921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probe = weighted sum over hidden layers + linear head.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~81% of weight on layer 3 of 12; the top layer is nearly ignored.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13-layer variant (incl. CNN embedding) agrees — same block.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 layers specialise for content; mid layers keep the acoustic artefacts.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4 · WAVLM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Embeddings &amp; scores explain the cross-dataset gap</a:t>
            </a:r>
            <a:endParaRPr lang="en-US" sz="2800" dirty="0"/>
          </a:p>
        </p:txBody>
      </p:sp>
      <p:pic>
        <p:nvPicPr>
          <p:cNvPr id="5" name="Image 0" descr="/sessions/modest-trusting-fermi/mnt/outputs/slide_assets/probe_umap_20260620_17051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05840" y="1600200"/>
            <a:ext cx="2743200" cy="2240280"/>
          </a:xfrm>
          <a:prstGeom prst="rect">
            <a:avLst/>
          </a:prstGeom>
        </p:spPr>
      </p:pic>
      <p:pic>
        <p:nvPicPr>
          <p:cNvPr id="6" name="Image 1" descr="/sessions/modest-trusting-fermi/mnt/outputs/slide_assets/probe_scorehist_20260620_170514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023360" y="1920240"/>
            <a:ext cx="3840480" cy="1554480"/>
          </a:xfrm>
          <a:prstGeom prst="rect">
            <a:avLst/>
          </a:prstGeom>
        </p:spPr>
      </p:pic>
      <p:pic>
        <p:nvPicPr>
          <p:cNvPr id="7" name="Image 2" descr="/sessions/modest-trusting-fermi/mnt/outputs/slide_assets/umap_20260620_160154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005840" y="3977640"/>
            <a:ext cx="2743200" cy="2240280"/>
          </a:xfrm>
          <a:prstGeom prst="rect">
            <a:avLst/>
          </a:prstGeom>
        </p:spPr>
      </p:pic>
      <p:pic>
        <p:nvPicPr>
          <p:cNvPr id="8" name="Image 3" descr="/sessions/modest-trusting-fermi/mnt/outputs/slide_assets/scorehist_20260620_16015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023360" y="4297680"/>
            <a:ext cx="3840480" cy="1554480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1005840" y="13716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FROZEN PROBE</a:t>
            </a:r>
            <a:endParaRPr lang="en-US" sz="1200" dirty="0"/>
          </a:p>
        </p:txBody>
      </p:sp>
      <p:sp>
        <p:nvSpPr>
          <p:cNvPr id="10" name="Text 4"/>
          <p:cNvSpPr/>
          <p:nvPr/>
        </p:nvSpPr>
        <p:spPr>
          <a:xfrm>
            <a:off x="1005840" y="3749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7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BEST FINE-TUNE</a:t>
            </a:r>
            <a:endParaRPr lang="en-US" sz="1200" dirty="0"/>
          </a:p>
        </p:txBody>
      </p:sp>
      <p:sp>
        <p:nvSpPr>
          <p:cNvPr id="11" name="Text 5"/>
          <p:cNvSpPr/>
          <p:nvPr/>
        </p:nvSpPr>
        <p:spPr>
          <a:xfrm>
            <a:off x="8229600" y="1737360"/>
            <a:ext cx="347472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UMAP: FoR clusters separate cleanly, but ITW points spread across the boundary — the domain shift made visual.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histograms: real/fake well separated on FoR; on ITW the fake mass leaks toward low scores — i.e. missed fakes.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exactly why an in-domain threshold under-detects ITW fakes.</a:t>
            </a:r>
            <a:endParaRPr lang="en-US" sz="1350" dirty="0"/>
          </a:p>
        </p:txBody>
      </p:sp>
      <p:sp>
        <p:nvSpPr>
          <p:cNvPr id="12" name="Text 6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13" name="Text 7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Cross-dataset performance by model</a:t>
            </a:r>
            <a:endParaRPr lang="en-US" sz="2800" dirty="0"/>
          </a:p>
        </p:txBody>
      </p:sp>
      <p:pic>
        <p:nvPicPr>
          <p:cNvPr id="5" name="Image 0" descr="/sessions/modest-trusting-fermi/mnt/outputs/slide_assets/cross_mod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691640"/>
            <a:ext cx="73152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321040" y="1691640"/>
            <a:ext cx="341345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AUC: WavLM probe (0.92) &gt; CNN (0.87) ≈ CRNN (0.86) &gt; WavLM ft (0.86) &gt; MLP (0.79) &gt; RNN (0.66).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Representation learning drives the ranking.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AUC is only half the story — see fake recall next.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RESULTS · KEY LESSON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high AUC does not mean a usable detector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22960" y="15544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imbalanced ITW set, weak models ride the 'real' majority to passable accuracy while missing most fakes. Fake-class recall exposes this.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2651760"/>
            <a:ext cx="2057400" cy="1828800"/>
          </a:xfrm>
          <a:prstGeom prst="roundRect">
            <a:avLst>
              <a:gd name="adj" fmla="val 4000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88036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72%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914400" y="379476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063240" y="2651760"/>
            <a:ext cx="2057400" cy="1828800"/>
          </a:xfrm>
          <a:prstGeom prst="roundRect">
            <a:avLst>
              <a:gd name="adj" fmla="val 4000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63240" y="288036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E7CB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54%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3154680" y="379476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CRNN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303520" y="2651760"/>
            <a:ext cx="2057400" cy="1828800"/>
          </a:xfrm>
          <a:prstGeom prst="roundRect">
            <a:avLst>
              <a:gd name="adj" fmla="val 4000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3520" y="288036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9971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45%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5394960" y="379476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WavLM ft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543800" y="2651760"/>
            <a:ext cx="2057400" cy="1828800"/>
          </a:xfrm>
          <a:prstGeom prst="roundRect">
            <a:avLst>
              <a:gd name="adj" fmla="val 4000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43800" y="288036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867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17%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7635240" y="379476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784080" y="2651760"/>
            <a:ext cx="2057400" cy="1828800"/>
          </a:xfrm>
          <a:prstGeom prst="roundRect">
            <a:avLst>
              <a:gd name="adj" fmla="val 4000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84080" y="288036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867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17%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9875520" y="379476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22960" y="4617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 of fake clips actually caught (ITW fake-class recall)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2960" y="5212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 Only the CNN and the frozen WavLM probe are both well-ranked AND operationally effective.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RESULTS · DIAGNOSIS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Generalisation gap: fine-tuning overfits the source</a:t>
            </a:r>
            <a:endParaRPr lang="en-US" sz="2800" dirty="0"/>
          </a:p>
        </p:txBody>
      </p:sp>
      <p:pic>
        <p:nvPicPr>
          <p:cNvPr id="5" name="Image 0" descr="/sessions/modest-trusting-fermi/mnt/outputs/slide_assets/gen_g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783080"/>
            <a:ext cx="7132320" cy="3840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138160" y="1691640"/>
            <a:ext cx="359633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WavLM: near-perfect FoR (AUC ~0.99) but the biggest ITW drop.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probe transfers best — smallest gap, highest ITW.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23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domain shift, freezing the backbone can beat fine-tuning.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457200"/>
          </a:xfrm>
          <a:prstGeom prst="rect">
            <a:avLst/>
          </a:prstGeom>
          <a:solidFill>
            <a:srgbClr val="0E959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310896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NOISE ROBUSTNESS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56692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Augmentation now; a degradation study next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822960" y="1737360"/>
            <a:ext cx="5212080" cy="2194560"/>
          </a:xfrm>
          <a:prstGeom prst="roundRect">
            <a:avLst>
              <a:gd name="adj" fmla="val 2917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737360"/>
            <a:ext cx="109728" cy="2194560"/>
          </a:xfrm>
          <a:prstGeom prst="rect">
            <a:avLst/>
          </a:prstGeom>
          <a:solidFill>
            <a:srgbClr val="0E9594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1874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Done — training-side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97280" y="2304288"/>
            <a:ext cx="4709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waveform augmentation in the WavLM fine-tune: MUSAN additive noise (0–15 dB SNR), simulated-RIR reverberation, and codec compression — applied to the train split only (no leakage).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737360"/>
            <a:ext cx="5029200" cy="2194560"/>
          </a:xfrm>
          <a:prstGeom prst="roundRect">
            <a:avLst>
              <a:gd name="adj" fmla="val 2917"/>
            </a:avLst>
          </a:prstGeom>
          <a:solidFill>
            <a:srgbClr val="F4F7F8"/>
          </a:solidFill>
          <a:ln w="12700">
            <a:solidFill>
              <a:srgbClr val="DDE5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1737360"/>
            <a:ext cx="109728" cy="2194560"/>
          </a:xfrm>
          <a:prstGeom prst="rect">
            <a:avLst/>
          </a:prstGeom>
          <a:solidFill>
            <a:srgbClr val="C9971B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Planned — evaluation-side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0" y="2304288"/>
            <a:ext cx="45262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Corrupt the TEST set at fixed SNRs (10 / 0 dB) + reverb and re-score every checkpoint → an AUC-vs-SNR degradation curve per architecture. Inference-only, using a held-out noise/RIR partition.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4297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architecture degrades most gracefully under noise — and how much the augmentation helps — is the natural next experiment.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2B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9594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5029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68680" y="1554480"/>
            <a:ext cx="1042416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EA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Representation learning drives cross-dataset AUC: MLP 0.79 → CNN/CRNN 0.86–0.87 → WavLM 0.92.</a:t>
            </a:r>
            <a:endParaRPr lang="en-US" sz="16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EA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AUC together with fake recall — MLP/RNN catch only ~17% of fakes despite passable accuracy.</a:t>
            </a:r>
            <a:endParaRPr lang="en-US" sz="16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EA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Convolution carries the recurrent path: pure BiLSTM 0.66 vs CRNN 0.86.</a:t>
            </a:r>
            <a:endParaRPr lang="en-US" sz="16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EA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capacity &amp; regularisation — don't maximise them; middle settings generalise best.</a:t>
            </a:r>
            <a:endParaRPr lang="en-US" sz="16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EAF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domain shift, freezing the WavLM backbone beats fine-tuning; the cue sits in a mid layer.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evaluation-side noise-robustness curves, EER, and multi-seed error bars.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Deepfake Detection — DL project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3000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Audio Deepfake Detection</dc:title>
  <dc:subject>PptxGenJS Presentation</dc:subject>
  <dc:creator>George</dc:creator>
  <cp:lastModifiedBy>George</cp:lastModifiedBy>
  <cp:revision>1</cp:revision>
  <dcterms:created xsi:type="dcterms:W3CDTF">2026-06-21T20:02:10Z</dcterms:created>
  <dcterms:modified xsi:type="dcterms:W3CDTF">2026-06-21T20:02:10Z</dcterms:modified>
</cp:coreProperties>
</file>