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71" r:id="rId13"/>
    <p:sldId id="267" r:id="rId14"/>
    <p:sldId id="268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3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842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kern="0" spc="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 DEEPFAKE </a:t>
            </a:r>
            <a:r>
              <a:rPr lang="en-US" sz="4000" b="1" kern="0" spc="100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IN SPEECH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30632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 smtClean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comparison </a:t>
            </a: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deep-learning architectures for real-vs-fake speech, with cross-dataset </a:t>
            </a:r>
            <a:r>
              <a:rPr lang="en-US" sz="1800" dirty="0" smtClean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4328021"/>
            <a:ext cx="7973238" cy="42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</a:rPr>
              <a:t>2</a:t>
            </a:r>
            <a:r>
              <a:rPr lang="en-US" baseline="30000" dirty="0" smtClean="0">
                <a:solidFill>
                  <a:schemeClr val="bg1"/>
                </a:solidFill>
              </a:rPr>
              <a:t>nd</a:t>
            </a:r>
            <a:r>
              <a:rPr lang="en-US" dirty="0" smtClean="0">
                <a:solidFill>
                  <a:schemeClr val="bg1"/>
                </a:solidFill>
              </a:rPr>
              <a:t> Semester Deep </a:t>
            </a:r>
            <a:r>
              <a:rPr lang="en-US" dirty="0">
                <a:solidFill>
                  <a:schemeClr val="bg1"/>
                </a:solidFill>
              </a:rPr>
              <a:t>Learning </a:t>
            </a:r>
            <a:r>
              <a:rPr lang="en-US" dirty="0">
                <a:solidFill>
                  <a:schemeClr val="bg1"/>
                </a:solidFill>
              </a:rPr>
              <a:t>P</a:t>
            </a:r>
            <a:r>
              <a:rPr lang="en-US" dirty="0" smtClean="0">
                <a:solidFill>
                  <a:schemeClr val="bg1"/>
                </a:solidFill>
              </a:rPr>
              <a:t>roject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4715198"/>
            <a:ext cx="102075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chemeClr val="bg1"/>
                </a:solidFill>
              </a:rPr>
              <a:t>George </a:t>
            </a:r>
            <a:r>
              <a:rPr sz="1600" b="0" dirty="0" err="1">
                <a:solidFill>
                  <a:schemeClr val="bg1"/>
                </a:solidFill>
              </a:rPr>
              <a:t>Nazos</a:t>
            </a:r>
            <a:r>
              <a:rPr sz="1600" b="0" dirty="0">
                <a:solidFill>
                  <a:schemeClr val="bg1"/>
                </a:solidFill>
              </a:rPr>
              <a:t>  MTN2519     |     Konstantinos Kaimakis  MTN2508</a:t>
            </a:r>
          </a:p>
          <a:p>
            <a:r>
              <a:rPr sz="1200" b="0" dirty="0">
                <a:solidFill>
                  <a:schemeClr val="bg1"/>
                </a:solidFill>
              </a:rPr>
              <a:t>MSc Artificial Intelligence  ·  NSCR </a:t>
            </a:r>
            <a:r>
              <a:rPr sz="1200" b="0" dirty="0" err="1">
                <a:solidFill>
                  <a:schemeClr val="bg1"/>
                </a:solidFill>
              </a:rPr>
              <a:t>Demokritos</a:t>
            </a:r>
            <a:r>
              <a:rPr sz="1200" b="0" dirty="0">
                <a:solidFill>
                  <a:schemeClr val="bg1"/>
                </a:solidFill>
              </a:rPr>
              <a:t> &amp; UNIPI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65836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speech is now near-indistinguishable from real, enabling fraud and disinformation.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 is not in-domain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generalising to unseen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 data.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train on one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set (</a:t>
            </a:r>
            <a:r>
              <a:rPr lang="en-US" sz="1600" dirty="0" err="1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test on a completely independent one (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set is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class-imbalanced,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alone is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misleading so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fakes is what matters.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1812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818120" y="193852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31,779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001000" y="2670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 test clips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18120" y="33375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818120" y="34472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63% / 37%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001000" y="41788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/ fake split (imbalanced)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APPROACH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architecture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families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5160874"/>
              </p:ext>
            </p:extLst>
          </p:nvPr>
        </p:nvGraphicFramePr>
        <p:xfrm>
          <a:off x="822960" y="1737360"/>
          <a:ext cx="10515600" cy="3200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3931920"/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hand-crafted features (MFCC, chroma, 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contrast, N_MFCC:20, N_FTT:128, HOP:256,</a:t>
                      </a:r>
                      <a:r>
                        <a:rPr lang="en-US" sz="1400" baseline="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N_MEL:128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features + shallow classifier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 err="1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-spectrogram (SR:16kHz,</a:t>
                      </a:r>
                      <a:r>
                        <a:rPr lang="en-US" sz="1400" baseline="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400" baseline="0" dirty="0" err="1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max_dur</a:t>
                      </a:r>
                      <a:r>
                        <a:rPr lang="en-US" sz="1400" baseline="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8.5s, N_FFT:1024 HOP:256, N_MELS:128)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2-D spectral 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RNN / CRNN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 err="1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-spectrogram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modelling, with / without a CNN block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WavLM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waveform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self-supervised 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with</a:t>
                      </a:r>
                      <a:r>
                        <a:rPr lang="en-US" sz="1400" baseline="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 classification head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</a:t>
                      </a: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frozen 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 </a:t>
                      </a: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fine-tune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1–3: focused one-axis sweeps (capacity, LR, </a:t>
            </a:r>
            <a:r>
              <a:rPr lang="en-US" sz="1300" i="1" dirty="0" err="1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</a:t>
            </a:r>
            <a:r>
              <a:rPr lang="en-US" sz="1300" i="1" dirty="0" smtClean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 </a:t>
            </a:r>
            <a:endParaRPr lang="en-US" sz="1300" i="1" dirty="0" smtClean="0">
              <a:solidFill>
                <a:srgbClr val="6B7B8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300" i="1" dirty="0" smtClean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</a:t>
            </a:r>
            <a:r>
              <a:rPr lang="en-US" sz="13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 an analysis of how to use a pretrained backbone.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 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Cross-dataset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evaluation, </a:t>
            </a: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leakage control,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4592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109728" cy="141732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2128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(for-norm) for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(53.868 samples) 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validation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(4.634 samples).</a:t>
            </a:r>
            <a:endParaRPr lang="en-US" sz="1250" dirty="0" smtClean="0">
              <a:solidFill>
                <a:srgbClr val="3A47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In-the-Wild (31.779 samples) for test only, so results measure true </a:t>
            </a:r>
            <a:r>
              <a:rPr lang="en-US" sz="1250" dirty="0" err="1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02920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309360" y="1645920"/>
            <a:ext cx="109728" cy="1417320"/>
          </a:xfrm>
          <a:prstGeom prst="rect">
            <a:avLst/>
          </a:prstGeom>
          <a:solidFill>
            <a:srgbClr val="E867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imbalance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212848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 is 63% real / 37% fake. We report per-class precision/recall/F1 and macro-F1, and treat fake-class recall as the operational metric.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24612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3246120"/>
            <a:ext cx="109728" cy="1417320"/>
          </a:xfrm>
          <a:prstGeom prst="rect">
            <a:avLst/>
          </a:prstGeom>
          <a:solidFill>
            <a:srgbClr val="3E7CB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97280" y="3383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Leakage control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38130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kHz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mono, 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fixed-duration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crop/pad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Feature scalers fit on clean training data only.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</a:t>
            </a:r>
            <a:r>
              <a:rPr lang="en-US" sz="1250" dirty="0" err="1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WavLM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fine tuning, noise augmentation was 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the train split only.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46120"/>
            <a:ext cx="502920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309360" y="3246120"/>
            <a:ext cx="109728" cy="1417320"/>
          </a:xfrm>
          <a:prstGeom prst="rect">
            <a:avLst/>
          </a:prstGeom>
          <a:solidFill>
            <a:srgbClr val="C997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58368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0" y="3813048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(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primary), 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macro-F1, per-class P/R/F1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1 · MLP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Hand-crafted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features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 ≈ 0.79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but the weakest learned model.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capacity hurts: wide/deep nets overfit FoR and transfer worse.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1e-3 wins on this low-dim feature space.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 is the features, not the classifier.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050" b="1" dirty="0">
                <a:solidFill>
                  <a:srgbClr val="0E9594"/>
                </a:solidFill>
              </a:rPr>
              <a:t>Baseline </a:t>
            </a:r>
            <a:r>
              <a:rPr lang="en-US" sz="1050" b="1" dirty="0" err="1">
                <a:solidFill>
                  <a:srgbClr val="0E9594"/>
                </a:solidFill>
              </a:rPr>
              <a:t>config</a:t>
            </a:r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Hidden layers: </a:t>
            </a:r>
            <a:r>
              <a:rPr lang="en-US" sz="1050" dirty="0">
                <a:solidFill>
                  <a:srgbClr val="22303A"/>
                </a:solidFill>
              </a:rPr>
              <a:t>[256, 128, 64]</a:t>
            </a:r>
          </a:p>
          <a:p>
            <a:r>
              <a:rPr lang="en-US" sz="1050" dirty="0">
                <a:solidFill>
                  <a:srgbClr val="5C6B73"/>
                </a:solidFill>
              </a:rPr>
              <a:t>Learning rate: </a:t>
            </a:r>
            <a:r>
              <a:rPr lang="en-US" sz="105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b="1" dirty="0">
                <a:solidFill>
                  <a:srgbClr val="0E9594"/>
                </a:solidFill>
              </a:rPr>
              <a:t>AUC 0.769  |  fake-recall 12%</a:t>
            </a:r>
          </a:p>
          <a:p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b="1" dirty="0">
                <a:solidFill>
                  <a:srgbClr val="C9971B"/>
                </a:solidFill>
              </a:rPr>
              <a:t>Best </a:t>
            </a:r>
            <a:r>
              <a:rPr lang="en-US" sz="1050" b="1" dirty="0" err="1">
                <a:solidFill>
                  <a:srgbClr val="C9971B"/>
                </a:solidFill>
              </a:rPr>
              <a:t>config</a:t>
            </a:r>
            <a:endParaRPr lang="en-US" sz="1050" b="1" dirty="0">
              <a:solidFill>
                <a:srgbClr val="C9971B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Hidden layers: </a:t>
            </a:r>
            <a:r>
              <a:rPr lang="en-US" sz="1050" dirty="0">
                <a:solidFill>
                  <a:srgbClr val="22303A"/>
                </a:solidFill>
              </a:rPr>
              <a:t>[256, 128, 64]</a:t>
            </a:r>
          </a:p>
          <a:p>
            <a:r>
              <a:rPr lang="en-US" sz="1050" b="1" dirty="0">
                <a:solidFill>
                  <a:srgbClr val="5C6B73"/>
                </a:solidFill>
              </a:rPr>
              <a:t>Learning rate: </a:t>
            </a:r>
            <a:r>
              <a:rPr lang="en-US" sz="1050" b="1" dirty="0" smtClean="0">
                <a:solidFill>
                  <a:srgbClr val="22303A"/>
                </a:solidFill>
              </a:rPr>
              <a:t>1e-3</a:t>
            </a:r>
            <a:endParaRPr lang="en-US" sz="1050" b="1" dirty="0">
              <a:solidFill>
                <a:srgbClr val="22303A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b="1" dirty="0">
                <a:solidFill>
                  <a:srgbClr val="C9971B"/>
                </a:solidFill>
              </a:rPr>
              <a:t>AUC 0.786  |  fake-recall 17%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10" name="Picture 9" descr="fig_mlp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458" y="1435608"/>
            <a:ext cx="7825563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2 · CNN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 spectral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features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 ≈ 0.87 / acc ≈ 0.83, and the best fake recall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72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sweet spot at 3 blocks; 2 collapses, 4 overfits.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Width: 32 channels ideal; 64 adds nothing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endParaRPr lang="en-US" sz="1400" dirty="0"/>
          </a:p>
          <a:p>
            <a:r>
              <a:rPr lang="en-US" sz="1050" b="1" dirty="0">
                <a:solidFill>
                  <a:srgbClr val="0E9594"/>
                </a:solidFill>
              </a:rPr>
              <a:t>Baseline </a:t>
            </a:r>
            <a:r>
              <a:rPr lang="en-US" sz="1050" b="1" dirty="0" err="1">
                <a:solidFill>
                  <a:srgbClr val="0E9594"/>
                </a:solidFill>
              </a:rPr>
              <a:t>config</a:t>
            </a:r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Conv depth / </a:t>
            </a:r>
            <a:r>
              <a:rPr lang="en-US" sz="1050" dirty="0" err="1">
                <a:solidFill>
                  <a:srgbClr val="5C6B73"/>
                </a:solidFill>
              </a:rPr>
              <a:t>ch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3 blocks / 32 </a:t>
            </a:r>
            <a:r>
              <a:rPr lang="en-US" sz="1050" dirty="0" err="1">
                <a:solidFill>
                  <a:srgbClr val="22303A"/>
                </a:solidFill>
              </a:rPr>
              <a:t>ch</a:t>
            </a:r>
            <a:endParaRPr lang="en-US" sz="1050" dirty="0">
              <a:solidFill>
                <a:srgbClr val="22303A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Learning rate: </a:t>
            </a:r>
            <a:r>
              <a:rPr lang="en-US" sz="105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Note: </a:t>
            </a:r>
            <a:r>
              <a:rPr lang="en-US" sz="1050" dirty="0">
                <a:solidFill>
                  <a:srgbClr val="22303A"/>
                </a:solidFill>
              </a:rPr>
              <a:t>dropout 0.3 beats 0.5 at this </a:t>
            </a:r>
            <a:r>
              <a:rPr lang="en-US" sz="1050" dirty="0" err="1">
                <a:solidFill>
                  <a:srgbClr val="22303A"/>
                </a:solidFill>
              </a:rPr>
              <a:t>lr</a:t>
            </a:r>
            <a:endParaRPr lang="en-US" sz="1050" dirty="0">
              <a:solidFill>
                <a:srgbClr val="22303A"/>
              </a:solidFill>
            </a:endParaRPr>
          </a:p>
          <a:p>
            <a:r>
              <a:rPr lang="en-US" sz="1050" b="1" dirty="0">
                <a:solidFill>
                  <a:srgbClr val="0E9594"/>
                </a:solidFill>
              </a:rPr>
              <a:t>AUC 0.681  |  fake-recall 46%</a:t>
            </a:r>
          </a:p>
          <a:p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b="1" dirty="0">
                <a:solidFill>
                  <a:srgbClr val="C9971B"/>
                </a:solidFill>
              </a:rPr>
              <a:t>Best </a:t>
            </a:r>
            <a:r>
              <a:rPr lang="en-US" sz="1050" b="1" dirty="0" err="1">
                <a:solidFill>
                  <a:srgbClr val="C9971B"/>
                </a:solidFill>
              </a:rPr>
              <a:t>config</a:t>
            </a:r>
            <a:endParaRPr lang="en-US" sz="1050" b="1" dirty="0">
              <a:solidFill>
                <a:srgbClr val="C9971B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Conv depth / </a:t>
            </a:r>
            <a:r>
              <a:rPr lang="en-US" sz="1050" dirty="0" err="1">
                <a:solidFill>
                  <a:srgbClr val="5C6B73"/>
                </a:solidFill>
              </a:rPr>
              <a:t>ch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3 blocks / 32 </a:t>
            </a:r>
            <a:r>
              <a:rPr lang="en-US" sz="1050" dirty="0" err="1">
                <a:solidFill>
                  <a:srgbClr val="22303A"/>
                </a:solidFill>
              </a:rPr>
              <a:t>ch</a:t>
            </a:r>
            <a:endParaRPr lang="en-US" sz="1050" dirty="0">
              <a:solidFill>
                <a:srgbClr val="22303A"/>
              </a:solidFill>
            </a:endParaRPr>
          </a:p>
          <a:p>
            <a:r>
              <a:rPr lang="en-US" sz="1050" b="1" dirty="0">
                <a:solidFill>
                  <a:srgbClr val="5C6B73"/>
                </a:solidFill>
              </a:rPr>
              <a:t>Learning rate: </a:t>
            </a:r>
            <a:r>
              <a:rPr lang="en-US" sz="1050" b="1" dirty="0" smtClean="0">
                <a:solidFill>
                  <a:srgbClr val="22303A"/>
                </a:solidFill>
              </a:rPr>
              <a:t>1e-3</a:t>
            </a:r>
            <a:endParaRPr lang="en-US" sz="1050" b="1" dirty="0">
              <a:solidFill>
                <a:srgbClr val="22303A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Note: </a:t>
            </a:r>
            <a:r>
              <a:rPr lang="en-US" sz="1050" dirty="0" err="1">
                <a:solidFill>
                  <a:srgbClr val="22303A"/>
                </a:solidFill>
              </a:rPr>
              <a:t>lr×dropout</a:t>
            </a:r>
            <a:r>
              <a:rPr lang="en-US" sz="1050" dirty="0">
                <a:solidFill>
                  <a:srgbClr val="22303A"/>
                </a:solidFill>
              </a:rPr>
              <a:t> interaction: </a:t>
            </a:r>
            <a:r>
              <a:rPr lang="en-US" sz="1050" dirty="0" err="1">
                <a:solidFill>
                  <a:srgbClr val="22303A"/>
                </a:solidFill>
              </a:rPr>
              <a:t>lr</a:t>
            </a:r>
            <a:r>
              <a:rPr lang="en-US" sz="1050" dirty="0">
                <a:solidFill>
                  <a:srgbClr val="22303A"/>
                </a:solidFill>
              </a:rPr>
              <a:t> 1e-3 needs do 0.5</a:t>
            </a:r>
          </a:p>
          <a:p>
            <a:r>
              <a:rPr lang="en-US" sz="1050" b="1" dirty="0">
                <a:solidFill>
                  <a:srgbClr val="C9971B"/>
                </a:solidFill>
              </a:rPr>
              <a:t>AUC 0.870  |  fake-recall 72%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10" name="Picture 9" descr="fig_cnn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75" y="1344167"/>
            <a:ext cx="8028329" cy="43152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3 · RNN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Pure </a:t>
            </a:r>
            <a:r>
              <a:rPr lang="en-US" sz="2800" b="1" dirty="0" err="1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BiLSTM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BiLSTM tops out at AUC ≈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barely above the MLP.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layers / wider hidden does not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help: it is bottlenecked by representation, not temporal capacity.</a:t>
            </a:r>
            <a:endParaRPr lang="en-US" sz="1400" dirty="0" smtClean="0"/>
          </a:p>
          <a:p>
            <a:endParaRPr lang="en-US" sz="1400" dirty="0" smtClean="0"/>
          </a:p>
          <a:p>
            <a:endParaRPr lang="en-US" sz="1400" dirty="0"/>
          </a:p>
          <a:p>
            <a:endParaRPr lang="en-US" sz="1400" dirty="0" smtClean="0"/>
          </a:p>
          <a:p>
            <a:endParaRPr lang="en-US" sz="1400" dirty="0"/>
          </a:p>
          <a:p>
            <a:r>
              <a:rPr lang="en-US" sz="1050" b="1" dirty="0">
                <a:solidFill>
                  <a:srgbClr val="0E9594"/>
                </a:solidFill>
              </a:rPr>
              <a:t>Baseline </a:t>
            </a:r>
            <a:r>
              <a:rPr lang="en-US" sz="1050" b="1" dirty="0" err="1">
                <a:solidFill>
                  <a:srgbClr val="0E9594"/>
                </a:solidFill>
              </a:rPr>
              <a:t>config</a:t>
            </a:r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dirty="0" err="1">
                <a:solidFill>
                  <a:srgbClr val="5C6B73"/>
                </a:solidFill>
              </a:rPr>
              <a:t>BiLSTM</a:t>
            </a:r>
            <a:r>
              <a:rPr lang="en-US" sz="1050" dirty="0">
                <a:solidFill>
                  <a:srgbClr val="5C6B73"/>
                </a:solidFill>
              </a:rPr>
              <a:t> layers / h: </a:t>
            </a:r>
            <a:r>
              <a:rPr lang="en-US" sz="1050" dirty="0">
                <a:solidFill>
                  <a:srgbClr val="22303A"/>
                </a:solidFill>
              </a:rPr>
              <a:t>2 / 128</a:t>
            </a:r>
          </a:p>
          <a:p>
            <a:r>
              <a:rPr lang="en-US" sz="1050" dirty="0">
                <a:solidFill>
                  <a:srgbClr val="5C6B73"/>
                </a:solidFill>
              </a:rPr>
              <a:t>Learning rate: </a:t>
            </a:r>
            <a:r>
              <a:rPr lang="en-US" sz="105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b="1" dirty="0">
                <a:solidFill>
                  <a:srgbClr val="0E9594"/>
                </a:solidFill>
              </a:rPr>
              <a:t>AUC 0.592  |  fake-recall 12%</a:t>
            </a:r>
          </a:p>
          <a:p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b="1" dirty="0">
                <a:solidFill>
                  <a:srgbClr val="C9971B"/>
                </a:solidFill>
              </a:rPr>
              <a:t>Best </a:t>
            </a:r>
            <a:r>
              <a:rPr lang="en-US" sz="1050" b="1" dirty="0" err="1">
                <a:solidFill>
                  <a:srgbClr val="C9971B"/>
                </a:solidFill>
              </a:rPr>
              <a:t>config</a:t>
            </a:r>
            <a:endParaRPr lang="en-US" sz="1050" b="1" dirty="0">
              <a:solidFill>
                <a:srgbClr val="C9971B"/>
              </a:solidFill>
            </a:endParaRPr>
          </a:p>
          <a:p>
            <a:r>
              <a:rPr lang="en-US" sz="1050" dirty="0" err="1">
                <a:solidFill>
                  <a:srgbClr val="5C6B73"/>
                </a:solidFill>
              </a:rPr>
              <a:t>BiLSTM</a:t>
            </a:r>
            <a:r>
              <a:rPr lang="en-US" sz="1050" dirty="0">
                <a:solidFill>
                  <a:srgbClr val="5C6B73"/>
                </a:solidFill>
              </a:rPr>
              <a:t> layers / h: </a:t>
            </a:r>
            <a:r>
              <a:rPr lang="en-US" sz="1050" dirty="0">
                <a:solidFill>
                  <a:srgbClr val="22303A"/>
                </a:solidFill>
              </a:rPr>
              <a:t>1 </a:t>
            </a:r>
            <a:r>
              <a:rPr lang="en-US" sz="1050" dirty="0" smtClean="0">
                <a:solidFill>
                  <a:srgbClr val="22303A"/>
                </a:solidFill>
              </a:rPr>
              <a:t>/ 128 </a:t>
            </a:r>
            <a:endParaRPr lang="en-US" sz="1050" dirty="0">
              <a:solidFill>
                <a:srgbClr val="22303A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Learning rate: </a:t>
            </a:r>
            <a:r>
              <a:rPr lang="en-US" sz="105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b="1" dirty="0">
                <a:solidFill>
                  <a:srgbClr val="C9971B"/>
                </a:solidFill>
              </a:rPr>
              <a:t>AUC 0.660  |  fake-recall 17%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10" name="Picture 9" descr="fig_rnn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3 · CRNN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Combining CNN &amp; RNN architectures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CRNN ≈ CNN (AUC ≈ 0.86): the CNN block does the heavy lifting.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conv depth 3, 32 ch, 2 BiLSTM layers, lr 5e-4.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LR (1e-3)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destabilizes the recurrent part of the model.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modelling adds little once convolution is present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900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 0.66 vs CRNN 0.86</a:t>
            </a:r>
            <a:endParaRPr lang="en-US" sz="1400" dirty="0"/>
          </a:p>
          <a:p>
            <a:endParaRPr lang="en-US" sz="1400" dirty="0"/>
          </a:p>
          <a:p>
            <a:r>
              <a:rPr lang="en-US" sz="1050" b="1" dirty="0">
                <a:solidFill>
                  <a:srgbClr val="0E9594"/>
                </a:solidFill>
              </a:rPr>
              <a:t>Baseline </a:t>
            </a:r>
            <a:r>
              <a:rPr lang="en-US" sz="1050" b="1" dirty="0" err="1">
                <a:solidFill>
                  <a:srgbClr val="0E9594"/>
                </a:solidFill>
              </a:rPr>
              <a:t>config</a:t>
            </a:r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CNN depth / </a:t>
            </a:r>
            <a:r>
              <a:rPr lang="en-US" sz="1050" dirty="0" err="1">
                <a:solidFill>
                  <a:srgbClr val="5C6B73"/>
                </a:solidFill>
              </a:rPr>
              <a:t>ch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3 blocks / 32 </a:t>
            </a:r>
            <a:r>
              <a:rPr lang="en-US" sz="1050" dirty="0" err="1">
                <a:solidFill>
                  <a:srgbClr val="22303A"/>
                </a:solidFill>
              </a:rPr>
              <a:t>ch</a:t>
            </a:r>
            <a:endParaRPr lang="en-US" sz="1050" dirty="0">
              <a:solidFill>
                <a:srgbClr val="22303A"/>
              </a:solidFill>
            </a:endParaRPr>
          </a:p>
          <a:p>
            <a:r>
              <a:rPr lang="en-US" sz="1050" dirty="0" err="1">
                <a:solidFill>
                  <a:srgbClr val="5C6B73"/>
                </a:solidFill>
              </a:rPr>
              <a:t>BiLSTM</a:t>
            </a:r>
            <a:r>
              <a:rPr lang="en-US" sz="1050" dirty="0">
                <a:solidFill>
                  <a:srgbClr val="5C6B73"/>
                </a:solidFill>
              </a:rPr>
              <a:t> layers / h: </a:t>
            </a:r>
            <a:r>
              <a:rPr lang="en-US" sz="1050" dirty="0">
                <a:solidFill>
                  <a:srgbClr val="22303A"/>
                </a:solidFill>
              </a:rPr>
              <a:t>2 / 128</a:t>
            </a:r>
          </a:p>
          <a:p>
            <a:r>
              <a:rPr lang="en-US" sz="1050" dirty="0">
                <a:solidFill>
                  <a:srgbClr val="5C6B73"/>
                </a:solidFill>
              </a:rPr>
              <a:t>Learning rate: </a:t>
            </a:r>
            <a:r>
              <a:rPr lang="en-US" sz="105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b="1" dirty="0">
                <a:solidFill>
                  <a:srgbClr val="0E9594"/>
                </a:solidFill>
              </a:rPr>
              <a:t>AUC 0.860  |  fake-recall 54%</a:t>
            </a:r>
          </a:p>
          <a:p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b="1" dirty="0">
                <a:solidFill>
                  <a:srgbClr val="C9971B"/>
                </a:solidFill>
              </a:rPr>
              <a:t>Best </a:t>
            </a:r>
            <a:r>
              <a:rPr lang="en-US" sz="1050" b="1" dirty="0" err="1">
                <a:solidFill>
                  <a:srgbClr val="C9971B"/>
                </a:solidFill>
              </a:rPr>
              <a:t>config</a:t>
            </a:r>
            <a:r>
              <a:rPr lang="en-US" sz="1050" b="1" dirty="0">
                <a:solidFill>
                  <a:srgbClr val="C9971B"/>
                </a:solidFill>
              </a:rPr>
              <a:t>  =  Baseline</a:t>
            </a:r>
          </a:p>
          <a:p>
            <a:r>
              <a:rPr lang="en-US" sz="1050" dirty="0" smtClean="0">
                <a:solidFill>
                  <a:srgbClr val="5C6B73"/>
                </a:solidFill>
              </a:rPr>
              <a:t>Note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Baseline is </a:t>
            </a:r>
            <a:r>
              <a:rPr lang="en-US" sz="1050" dirty="0" smtClean="0">
                <a:solidFill>
                  <a:srgbClr val="22303A"/>
                </a:solidFill>
              </a:rPr>
              <a:t>the optimum</a:t>
            </a:r>
            <a:endParaRPr lang="en-US" sz="1050" dirty="0">
              <a:solidFill>
                <a:srgbClr val="22303A"/>
              </a:solidFill>
            </a:endParaRPr>
          </a:p>
          <a:p>
            <a:r>
              <a:rPr lang="en-US" sz="1050" b="1" dirty="0">
                <a:solidFill>
                  <a:srgbClr val="C9971B"/>
                </a:solidFill>
              </a:rPr>
              <a:t>AUC 0.860  |  fake-recall 54%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10" name="Picture 9" descr="fig_crnn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628" y="1463040"/>
            <a:ext cx="7794642" cy="41896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spoofing cue lives in an early-to-mid layer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955280" y="1691640"/>
            <a:ext cx="377921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weighted sum over hidden layers + linear head.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~81% of weight on layer 3 of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layer is nearly ignored.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13-layer variant (incl. CNN embedding) agrees — same block.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layers specialise for content; mid layers keep the acoustic artefacts.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950" b="1" dirty="0">
                <a:solidFill>
                  <a:srgbClr val="0E9594"/>
                </a:solidFill>
              </a:rPr>
              <a:t>Frozen </a:t>
            </a:r>
            <a:r>
              <a:rPr lang="en-US" sz="950" b="1" dirty="0" smtClean="0">
                <a:solidFill>
                  <a:srgbClr val="0E9594"/>
                </a:solidFill>
              </a:rPr>
              <a:t>backbone </a:t>
            </a:r>
            <a:r>
              <a:rPr lang="en-US" sz="950" b="1" dirty="0" err="1">
                <a:solidFill>
                  <a:srgbClr val="0E9594"/>
                </a:solidFill>
              </a:rPr>
              <a:t>config</a:t>
            </a:r>
            <a:endParaRPr lang="en-US" sz="950" b="1" dirty="0">
              <a:solidFill>
                <a:srgbClr val="0E9594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Aggregation: </a:t>
            </a:r>
            <a:r>
              <a:rPr lang="en-US" sz="900" dirty="0" err="1">
                <a:solidFill>
                  <a:srgbClr val="22303A"/>
                </a:solidFill>
              </a:rPr>
              <a:t>Softmax</a:t>
            </a:r>
            <a:r>
              <a:rPr lang="en-US" sz="900" dirty="0">
                <a:solidFill>
                  <a:srgbClr val="22303A"/>
                </a:solidFill>
              </a:rPr>
              <a:t>-weighted sum, 12 layers</a:t>
            </a:r>
          </a:p>
          <a:p>
            <a:r>
              <a:rPr lang="en-US" sz="900" dirty="0">
                <a:solidFill>
                  <a:srgbClr val="5C6B73"/>
                </a:solidFill>
              </a:rPr>
              <a:t>Dominant layer: </a:t>
            </a:r>
            <a:r>
              <a:rPr lang="en-US" sz="900" dirty="0">
                <a:solidFill>
                  <a:srgbClr val="22303A"/>
                </a:solidFill>
              </a:rPr>
              <a:t>Layer 3 of 12  (~81% weight)</a:t>
            </a:r>
          </a:p>
          <a:p>
            <a:r>
              <a:rPr lang="en-US" sz="900" dirty="0">
                <a:solidFill>
                  <a:srgbClr val="5C6B73"/>
                </a:solidFill>
              </a:rPr>
              <a:t>Trainable </a:t>
            </a:r>
            <a:r>
              <a:rPr lang="en-US" sz="900" dirty="0" err="1">
                <a:solidFill>
                  <a:srgbClr val="5C6B73"/>
                </a:solidFill>
              </a:rPr>
              <a:t>params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~5K  (head only)</a:t>
            </a:r>
          </a:p>
          <a:p>
            <a:r>
              <a:rPr lang="en-US" sz="900" b="1" dirty="0">
                <a:solidFill>
                  <a:srgbClr val="0E9594"/>
                </a:solidFill>
              </a:rPr>
              <a:t>AUC 0.918  |  fake-recall 57%</a:t>
            </a:r>
          </a:p>
          <a:p>
            <a:endParaRPr lang="en-US" sz="900" b="1" dirty="0">
              <a:solidFill>
                <a:srgbClr val="0E9594"/>
              </a:solidFill>
            </a:endParaRPr>
          </a:p>
          <a:p>
            <a:r>
              <a:rPr lang="en-US" sz="950" b="1" dirty="0">
                <a:solidFill>
                  <a:srgbClr val="C9971B"/>
                </a:solidFill>
              </a:rPr>
              <a:t>Fine-tune best </a:t>
            </a:r>
            <a:r>
              <a:rPr lang="en-US" sz="950" b="1" dirty="0" err="1">
                <a:solidFill>
                  <a:srgbClr val="C9971B"/>
                </a:solidFill>
              </a:rPr>
              <a:t>config</a:t>
            </a:r>
            <a:endParaRPr lang="en-US" sz="950" b="1" dirty="0">
              <a:solidFill>
                <a:srgbClr val="C9971B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Unfrozen layers: </a:t>
            </a:r>
            <a:r>
              <a:rPr lang="en-US" sz="900" dirty="0">
                <a:solidFill>
                  <a:srgbClr val="22303A"/>
                </a:solidFill>
              </a:rPr>
              <a:t>Top 2 transformer blocks</a:t>
            </a:r>
          </a:p>
          <a:p>
            <a:r>
              <a:rPr lang="en-US" sz="900" dirty="0" err="1">
                <a:solidFill>
                  <a:srgbClr val="5C6B73"/>
                </a:solidFill>
              </a:rPr>
              <a:t>lr</a:t>
            </a:r>
            <a:r>
              <a:rPr lang="en-US" sz="900" dirty="0">
                <a:solidFill>
                  <a:srgbClr val="5C6B73"/>
                </a:solidFill>
              </a:rPr>
              <a:t> backbone / head: </a:t>
            </a:r>
            <a:r>
              <a:rPr lang="en-US" sz="900" dirty="0">
                <a:solidFill>
                  <a:srgbClr val="22303A"/>
                </a:solidFill>
              </a:rPr>
              <a:t>1e-5 / 1e-3</a:t>
            </a:r>
          </a:p>
          <a:p>
            <a:r>
              <a:rPr lang="en-US" sz="900" dirty="0">
                <a:solidFill>
                  <a:srgbClr val="5C6B73"/>
                </a:solidFill>
              </a:rPr>
              <a:t>Batch / </a:t>
            </a:r>
            <a:r>
              <a:rPr lang="en-US" sz="900" dirty="0" err="1">
                <a:solidFill>
                  <a:srgbClr val="5C6B73"/>
                </a:solidFill>
              </a:rPr>
              <a:t>wd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32 / 0.01</a:t>
            </a:r>
          </a:p>
          <a:p>
            <a:r>
              <a:rPr lang="en-US" sz="900" b="1" dirty="0">
                <a:solidFill>
                  <a:srgbClr val="C9971B"/>
                </a:solidFill>
              </a:rPr>
              <a:t>AUC 0.865  |  fake-recall 45%  (domain shift)</a:t>
            </a:r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9" name="Picture 8" descr="fig_wavlm_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8800"/>
            <a:ext cx="69494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Embeddings &amp; scores explain the cross-dataset gap</a:t>
            </a:r>
            <a:endParaRPr lang="en-US" sz="2800" dirty="0"/>
          </a:p>
        </p:txBody>
      </p:sp>
      <p:sp>
        <p:nvSpPr>
          <p:cNvPr id="9" name="Text 3"/>
          <p:cNvSpPr/>
          <p:nvPr/>
        </p:nvSpPr>
        <p:spPr>
          <a:xfrm>
            <a:off x="1005840" y="122529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FROZEN </a:t>
            </a:r>
            <a:r>
              <a:rPr lang="en-US" sz="1200" b="1" dirty="0" smtClean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backbone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1005840" y="3749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BEST FINE-TUNE</a:t>
            </a:r>
            <a:endParaRPr lang="en-US" sz="1200" dirty="0"/>
          </a:p>
        </p:txBody>
      </p:sp>
      <p:sp>
        <p:nvSpPr>
          <p:cNvPr id="11" name="Text 5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UMAP: FoR clusters separate cleanly, but ITW points spread across the boundary — the domain shift made visual.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histograms: real/fake well separated on FoR; on ITW the fake mass leaks toward low scores — i.e. missed fakes.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why an in-domain threshold under-detects ITW fakes.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82605"/>
            <a:ext cx="2743200" cy="224028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1802645"/>
            <a:ext cx="3840480" cy="155448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977640"/>
            <a:ext cx="2743200" cy="22402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4297680"/>
            <a:ext cx="3840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Cross-dataset performance by model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AUC: </a:t>
            </a:r>
            <a:r>
              <a:rPr lang="en-US" sz="1400" dirty="0" err="1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WavLM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(0.92) &gt; CNN (0.87) ≈ CRNN (0.86) &gt; WavLM ft (0.86) &gt; MLP (0.79) &gt; RNN (0.66).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learning drives the ranking.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AUC is only half the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fake recall next.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9" name="Picture 8" descr="fig_result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594"/>
                </a:solidFill>
              </a:rPr>
              <a:t>RESULTS · AUC VS FAKE RECALL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303A"/>
                </a:solidFill>
              </a:rPr>
              <a:t>Ranking quality vs calibration -- and where each model errors fall</a:t>
            </a:r>
          </a:p>
        </p:txBody>
      </p:sp>
      <p:pic>
        <p:nvPicPr>
          <p:cNvPr id="5" name="Picture 4" descr="fig_auc_recall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0000"/>
            <a:ext cx="1109472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100000"/>
            <a:ext cx="10515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dirty="0">
                <a:solidFill>
                  <a:srgbClr val="5C6B73"/>
                </a:solidFill>
              </a:rPr>
              <a:t>High AUC + low fake-recall at threshold 0.5 = calibration problem, not a modelling failure. Only CNN and </a:t>
            </a:r>
            <a:r>
              <a:rPr sz="1000" b="0" dirty="0" err="1">
                <a:solidFill>
                  <a:srgbClr val="5C6B73"/>
                </a:solidFill>
              </a:rPr>
              <a:t>WavLM</a:t>
            </a:r>
            <a:r>
              <a:rPr sz="1000" b="0" dirty="0">
                <a:solidFill>
                  <a:srgbClr val="5C6B73"/>
                </a:solidFill>
              </a:rPr>
              <a:t> </a:t>
            </a:r>
            <a:r>
              <a:rPr lang="en-US" sz="1000" b="0" dirty="0" smtClean="0">
                <a:solidFill>
                  <a:srgbClr val="5C6B73"/>
                </a:solidFill>
              </a:rPr>
              <a:t>backbone</a:t>
            </a:r>
            <a:r>
              <a:rPr sz="1000" b="0" dirty="0" smtClean="0">
                <a:solidFill>
                  <a:srgbClr val="5C6B73"/>
                </a:solidFill>
              </a:rPr>
              <a:t> </a:t>
            </a:r>
            <a:r>
              <a:rPr sz="1000" b="0" dirty="0">
                <a:solidFill>
                  <a:srgbClr val="5C6B73"/>
                </a:solidFill>
              </a:rPr>
              <a:t>sit in the target zone (top-right).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B85"/>
                </a:solidFill>
              </a:rPr>
              <a:t>Audio Deepfake Detection — DL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B85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· KEY LESSON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AUC = good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ranking </a:t>
            </a: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but the default threshold may need calibration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measures ranking quality (threshold-free). Low fake-recall at the default 0.5 threshold is a calibration problem, not a modelling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failure,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be fixed by tuning the threshold. 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fake clips actually caught (ITW fake-class recall)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CNN </a:t>
            </a: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</a:t>
            </a:r>
            <a:r>
              <a:rPr lang="en-US" sz="1500" b="1" dirty="0" err="1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WavLM</a:t>
            </a: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5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backbone </a:t>
            </a: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combine high AUC with good out-of-the-box calibration. WavLM fine-tune has high AUC but collapses at threshold 0.5 under domain shift </a:t>
            </a:r>
            <a:r>
              <a:rPr lang="en-US" sz="15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r>
              <a:rPr lang="en-US" sz="15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hreshold </a:t>
            </a: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tuning would recover much of its fake-recall.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5" name="Rectangle 24"/>
          <p:cNvSpPr/>
          <p:nvPr/>
        </p:nvSpPr>
        <p:spPr>
          <a:xfrm>
            <a:off x="82296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0E9594"/>
                </a:solidFill>
              </a:rPr>
              <a:t>72%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CNN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8608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58608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8E7CC3"/>
                </a:solidFill>
              </a:rPr>
              <a:t>57%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8869" y="3794760"/>
            <a:ext cx="1394421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dirty="0" err="1">
                <a:solidFill>
                  <a:srgbClr val="6B7B85"/>
                </a:solidFill>
              </a:rPr>
              <a:t>WavLM</a:t>
            </a:r>
            <a:r>
              <a:rPr sz="1300" b="0" dirty="0">
                <a:solidFill>
                  <a:srgbClr val="6B7B85"/>
                </a:solidFill>
              </a:rPr>
              <a:t> </a:t>
            </a:r>
            <a:r>
              <a:rPr lang="en-US" sz="1300" b="0" dirty="0" smtClean="0">
                <a:solidFill>
                  <a:srgbClr val="6B7B85"/>
                </a:solidFill>
              </a:rPr>
              <a:t>backbone</a:t>
            </a:r>
            <a:endParaRPr sz="1300" b="0" dirty="0">
              <a:solidFill>
                <a:srgbClr val="6B7B85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34920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4920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3E7CB1"/>
                </a:solidFill>
              </a:rPr>
              <a:t>54%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920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CRNN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1232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1232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C9971B"/>
                </a:solidFill>
              </a:rPr>
              <a:t>45%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232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WavLM ft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7544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7544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E8674F"/>
                </a:solidFill>
              </a:rPr>
              <a:t>17%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7544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MLP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3856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3856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E8674F"/>
                </a:solidFill>
              </a:rPr>
              <a:t>17%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856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RNN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· DIAGNOSIS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Generalisation gap: fine-tuning overfits the source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138160" y="1691640"/>
            <a:ext cx="359633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WavLM: near-perfect FoR (AUC ~0.99) but the biggest ITW drop.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best — smallest gap, highest ITW.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domain shift, freezing the backbone can beat fine-tuning.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9" name="Picture 8" descr="fig_gen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83080"/>
            <a:ext cx="71323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NOISE ROBUSTNESS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Augmentation now; a degradation study next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737360"/>
            <a:ext cx="5212080" cy="2194560"/>
          </a:xfrm>
          <a:prstGeom prst="roundRect">
            <a:avLst>
              <a:gd name="adj" fmla="val 29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109728" cy="219456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9728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Done — training-side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304288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waveform augmentation in the WavLM fine-tune: MUSAN additive noise (0–15 dB SNR), simulated-RIR reverberation, and codec compression — applied to the train split only (no leakage).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029200" cy="2194560"/>
          </a:xfrm>
          <a:prstGeom prst="roundRect">
            <a:avLst>
              <a:gd name="adj" fmla="val 29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109728" cy="2194560"/>
          </a:xfrm>
          <a:prstGeom prst="rect">
            <a:avLst/>
          </a:prstGeom>
          <a:solidFill>
            <a:srgbClr val="C997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58368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 — evaluation-side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30428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the TEST set at fixed SNRs (10 / 0 dB) + reverb and re-score every checkpoint → an AUC-vs-SNR degradation curve per architecture. Inference-only, using a held-out noise/RIR partition.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architecture degrades most gracefully under noise — and how much the augmentation helps — is the natural next experiment.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68680" y="155448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learning drives cross-dataset AUC: MLP 0.79 → CNN/CRNN 0.86–0.87 → WavLM 0.92.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AUC together with fake recall — MLP/RNN catch only ~17% of fakes despite passable accuracy.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carries the recurrent path: pure BiLSTM 0.66 vs CRNN 0.86.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capacity &amp; regularisation — don't maximise them; middle settings generalise best.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domain shift, freezing the WavLM backbone beats fine-tuning; the cue sits in a mid layer.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evaluation-side noise-robustness curves, EER, and multi-seed error bars.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1591</Words>
  <Application>Microsoft Office PowerPoint</Application>
  <PresentationFormat>Widescreen</PresentationFormat>
  <Paragraphs>236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Audio Deepfake Detection</dc:title>
  <dc:subject>PptxGenJS Presentation</dc:subject>
  <dc:creator>George</dc:creator>
  <cp:lastModifiedBy>Microsoft account</cp:lastModifiedBy>
  <cp:revision>9</cp:revision>
  <dcterms:created xsi:type="dcterms:W3CDTF">2026-06-21T20:02:10Z</dcterms:created>
  <dcterms:modified xsi:type="dcterms:W3CDTF">2026-06-22T21:31:57Z</dcterms:modified>
</cp:coreProperties>
</file>